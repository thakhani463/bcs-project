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2191" y="352031"/>
            <a:ext cx="4520946" cy="41682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8099" y="377939"/>
            <a:ext cx="4469130" cy="35739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3085" y="399668"/>
            <a:ext cx="4455160" cy="34404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7155" y="4785347"/>
            <a:ext cx="497573" cy="48540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9179" y="4765560"/>
            <a:ext cx="6300978" cy="52043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699" y="5039880"/>
            <a:ext cx="4014978" cy="52043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28699" y="5314187"/>
            <a:ext cx="4848606" cy="52043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2600" y="5314187"/>
            <a:ext cx="381762" cy="52043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29655" y="5314187"/>
            <a:ext cx="834389" cy="52043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8699" y="5588508"/>
            <a:ext cx="3847338" cy="5204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3234" y="1732914"/>
            <a:ext cx="1978660" cy="625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00615" y="6100149"/>
            <a:ext cx="342265" cy="172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0645" y="6100149"/>
            <a:ext cx="217931" cy="172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1F1F1"/>
                </a:solidFill>
                <a:latin typeface="Georgia"/>
                <a:cs typeface="Georgia"/>
              </a:defRPr>
            </a:lvl1pPr>
          </a:lstStyle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jp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jpg"/><Relationship Id="rId22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2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39.png"/><Relationship Id="rId12" Type="http://schemas.openxmlformats.org/officeDocument/2006/relationships/image" Target="../media/image55.png"/><Relationship Id="rId2" Type="http://schemas.openxmlformats.org/officeDocument/2006/relationships/image" Target="../media/image46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2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39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39.png"/><Relationship Id="rId3" Type="http://schemas.openxmlformats.org/officeDocument/2006/relationships/image" Target="../media/image88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63.png"/><Relationship Id="rId15" Type="http://schemas.openxmlformats.org/officeDocument/2006/relationships/image" Target="../media/image98.png"/><Relationship Id="rId10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39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18.png"/><Relationship Id="rId18" Type="http://schemas.openxmlformats.org/officeDocument/2006/relationships/image" Target="../media/image122.png"/><Relationship Id="rId3" Type="http://schemas.openxmlformats.org/officeDocument/2006/relationships/image" Target="../media/image110.png"/><Relationship Id="rId7" Type="http://schemas.openxmlformats.org/officeDocument/2006/relationships/image" Target="../media/image102.png"/><Relationship Id="rId12" Type="http://schemas.openxmlformats.org/officeDocument/2006/relationships/image" Target="../media/image117.png"/><Relationship Id="rId17" Type="http://schemas.openxmlformats.org/officeDocument/2006/relationships/image" Target="../media/image39.png"/><Relationship Id="rId2" Type="http://schemas.openxmlformats.org/officeDocument/2006/relationships/image" Target="../media/image109.png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11" Type="http://schemas.openxmlformats.org/officeDocument/2006/relationships/image" Target="../media/image116.png"/><Relationship Id="rId5" Type="http://schemas.openxmlformats.org/officeDocument/2006/relationships/image" Target="../media/image112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11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3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5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image" Target="../media/image39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39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png"/><Relationship Id="rId5" Type="http://schemas.openxmlformats.org/officeDocument/2006/relationships/image" Target="../media/image39.png"/><Relationship Id="rId4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5.png"/><Relationship Id="rId5" Type="http://schemas.openxmlformats.org/officeDocument/2006/relationships/image" Target="../media/image39.png"/><Relationship Id="rId4" Type="http://schemas.openxmlformats.org/officeDocument/2006/relationships/image" Target="../media/image1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90916" y="406908"/>
            <a:ext cx="2505075" cy="2151380"/>
            <a:chOff x="8090916" y="406908"/>
            <a:chExt cx="2505075" cy="215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0916" y="406908"/>
              <a:ext cx="2504694" cy="215112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6636" y="432803"/>
              <a:ext cx="2279142" cy="3573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0606" y="454279"/>
              <a:ext cx="2266823" cy="343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30540" y="981443"/>
              <a:ext cx="1867661" cy="4442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5399" y="1002411"/>
              <a:ext cx="1854453" cy="431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4444" y="1530108"/>
              <a:ext cx="1451609" cy="3558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8795" y="1551558"/>
              <a:ext cx="1438909" cy="3426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16824" y="2078736"/>
              <a:ext cx="2451354" cy="4457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0667" y="2100199"/>
              <a:ext cx="2439161" cy="43307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0" y="0"/>
            <a:ext cx="7569200" cy="2701290"/>
            <a:chOff x="0" y="0"/>
            <a:chExt cx="7569200" cy="2701290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3775709" cy="27012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3749929" cy="267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23132" y="0"/>
              <a:ext cx="3845814" cy="27012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49928" y="0"/>
              <a:ext cx="3793871" cy="2675382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100307" y="6090615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30" dirty="0">
                <a:solidFill>
                  <a:srgbClr val="F1F1F1"/>
                </a:solid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44256" y="3657600"/>
            <a:ext cx="2803525" cy="1751964"/>
            <a:chOff x="8144256" y="3657600"/>
            <a:chExt cx="2803525" cy="1751964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44256" y="3657600"/>
              <a:ext cx="2803398" cy="175183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70164" y="3724630"/>
              <a:ext cx="165379" cy="1653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80832" y="3739896"/>
              <a:ext cx="154940" cy="1549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68868" y="3683495"/>
              <a:ext cx="1290065" cy="20803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693529" y="3813555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4">
                  <a:moveTo>
                    <a:pt x="59944" y="0"/>
                  </a:moveTo>
                  <a:lnTo>
                    <a:pt x="52992" y="760"/>
                  </a:lnTo>
                  <a:lnTo>
                    <a:pt x="45481" y="1317"/>
                  </a:lnTo>
                  <a:lnTo>
                    <a:pt x="37423" y="1660"/>
                  </a:lnTo>
                  <a:lnTo>
                    <a:pt x="28828" y="1778"/>
                  </a:lnTo>
                  <a:lnTo>
                    <a:pt x="15494" y="1778"/>
                  </a:lnTo>
                  <a:lnTo>
                    <a:pt x="4952" y="1524"/>
                  </a:lnTo>
                  <a:lnTo>
                    <a:pt x="3428" y="7493"/>
                  </a:lnTo>
                  <a:lnTo>
                    <a:pt x="1777" y="13208"/>
                  </a:lnTo>
                  <a:lnTo>
                    <a:pt x="0" y="18796"/>
                  </a:lnTo>
                  <a:lnTo>
                    <a:pt x="1650" y="20447"/>
                  </a:lnTo>
                  <a:lnTo>
                    <a:pt x="25904" y="19857"/>
                  </a:lnTo>
                  <a:lnTo>
                    <a:pt x="37973" y="19812"/>
                  </a:lnTo>
                  <a:lnTo>
                    <a:pt x="55372" y="20447"/>
                  </a:lnTo>
                  <a:lnTo>
                    <a:pt x="57023" y="13970"/>
                  </a:lnTo>
                  <a:lnTo>
                    <a:pt x="59054" y="7747"/>
                  </a:lnTo>
                  <a:lnTo>
                    <a:pt x="61468" y="1524"/>
                  </a:lnTo>
                  <a:lnTo>
                    <a:pt x="59944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693529" y="3813555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5" h="20954">
                  <a:moveTo>
                    <a:pt x="59944" y="0"/>
                  </a:moveTo>
                  <a:lnTo>
                    <a:pt x="61468" y="1524"/>
                  </a:lnTo>
                  <a:lnTo>
                    <a:pt x="59054" y="7747"/>
                  </a:lnTo>
                  <a:lnTo>
                    <a:pt x="57023" y="13970"/>
                  </a:lnTo>
                  <a:lnTo>
                    <a:pt x="55372" y="20447"/>
                  </a:lnTo>
                  <a:lnTo>
                    <a:pt x="45974" y="20066"/>
                  </a:lnTo>
                  <a:lnTo>
                    <a:pt x="37973" y="19812"/>
                  </a:lnTo>
                  <a:lnTo>
                    <a:pt x="31242" y="19812"/>
                  </a:lnTo>
                  <a:lnTo>
                    <a:pt x="25904" y="19857"/>
                  </a:lnTo>
                  <a:lnTo>
                    <a:pt x="19208" y="19986"/>
                  </a:lnTo>
                  <a:lnTo>
                    <a:pt x="11132" y="20187"/>
                  </a:lnTo>
                  <a:lnTo>
                    <a:pt x="1650" y="20447"/>
                  </a:lnTo>
                  <a:lnTo>
                    <a:pt x="0" y="18796"/>
                  </a:lnTo>
                  <a:lnTo>
                    <a:pt x="1777" y="13208"/>
                  </a:lnTo>
                  <a:lnTo>
                    <a:pt x="3428" y="7493"/>
                  </a:lnTo>
                  <a:lnTo>
                    <a:pt x="4952" y="1524"/>
                  </a:lnTo>
                  <a:lnTo>
                    <a:pt x="15494" y="1778"/>
                  </a:lnTo>
                  <a:lnTo>
                    <a:pt x="23495" y="1778"/>
                  </a:lnTo>
                  <a:lnTo>
                    <a:pt x="28828" y="1778"/>
                  </a:lnTo>
                  <a:lnTo>
                    <a:pt x="37423" y="1660"/>
                  </a:lnTo>
                  <a:lnTo>
                    <a:pt x="45481" y="1317"/>
                  </a:lnTo>
                  <a:lnTo>
                    <a:pt x="52992" y="760"/>
                  </a:lnTo>
                  <a:lnTo>
                    <a:pt x="59944" y="0"/>
                  </a:lnTo>
                  <a:close/>
                </a:path>
              </a:pathLst>
            </a:custGeom>
            <a:ln w="914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753600" y="3686555"/>
              <a:ext cx="694181" cy="2049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70164" y="4608550"/>
              <a:ext cx="165379" cy="16537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80832" y="4623816"/>
              <a:ext cx="154940" cy="1549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67344" y="4567415"/>
              <a:ext cx="2454909" cy="2080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67344" y="4872215"/>
              <a:ext cx="1471041" cy="20803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67344" y="5177015"/>
              <a:ext cx="2324480" cy="2080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1508" y="0"/>
            <a:ext cx="4690491" cy="68579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84147" y="1697735"/>
            <a:ext cx="1743075" cy="552450"/>
            <a:chOff x="1184147" y="1697735"/>
            <a:chExt cx="1743075" cy="5524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4147" y="1697735"/>
              <a:ext cx="1742693" cy="552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055" y="1723656"/>
              <a:ext cx="1690877" cy="493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6845" y="1747392"/>
              <a:ext cx="1674342" cy="4771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96900" y="3649726"/>
            <a:ext cx="47421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Analyse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overall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drivers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purchasing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behaviour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driven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recommendations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52004" y="297179"/>
            <a:ext cx="3806190" cy="2729230"/>
            <a:chOff x="7652004" y="297179"/>
            <a:chExt cx="3806190" cy="272923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52004" y="297179"/>
              <a:ext cx="3806190" cy="272872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78674" y="324992"/>
              <a:ext cx="3754754" cy="2675381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1508" y="0"/>
            <a:ext cx="4690491" cy="68579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57755" y="1245108"/>
            <a:ext cx="2978785" cy="552450"/>
            <a:chOff x="1857755" y="1245108"/>
            <a:chExt cx="2978785" cy="5524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755" y="1245108"/>
              <a:ext cx="2978658" cy="552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3663" y="1271028"/>
              <a:ext cx="2926841" cy="493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0300" y="1295019"/>
              <a:ext cx="2910713" cy="47726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2530" y="2893949"/>
            <a:ext cx="4818380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Clr>
                <a:srgbClr val="FFFFFF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processed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Databricks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calculated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as: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Quantity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sz="1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Price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exported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Excel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Pivot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tables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charts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visualisation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92551" y="568464"/>
            <a:ext cx="5981065" cy="552450"/>
            <a:chOff x="2892551" y="568464"/>
            <a:chExt cx="5981065" cy="55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2551" y="568464"/>
              <a:ext cx="5980938" cy="5524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8459" y="594372"/>
              <a:ext cx="3839717" cy="4930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4715" y="618109"/>
              <a:ext cx="3824478" cy="4772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1527" y="598944"/>
              <a:ext cx="1956053" cy="3924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7656" y="623316"/>
              <a:ext cx="1940941" cy="37566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649729" y="1708404"/>
            <a:ext cx="8324850" cy="2456180"/>
            <a:chOff x="1649729" y="1708404"/>
            <a:chExt cx="8324850" cy="2456180"/>
          </a:xfrm>
        </p:grpSpPr>
        <p:sp>
          <p:nvSpPr>
            <p:cNvPr id="11" name="object 11"/>
            <p:cNvSpPr/>
            <p:nvPr/>
          </p:nvSpPr>
          <p:spPr>
            <a:xfrm>
              <a:off x="1649729" y="2007108"/>
              <a:ext cx="8324850" cy="1722120"/>
            </a:xfrm>
            <a:custGeom>
              <a:avLst/>
              <a:gdLst/>
              <a:ahLst/>
              <a:cxnLst/>
              <a:rect l="l" t="t" r="r" b="b"/>
              <a:pathLst>
                <a:path w="8324850" h="1722120">
                  <a:moveTo>
                    <a:pt x="6671310" y="1722119"/>
                  </a:moveTo>
                  <a:lnTo>
                    <a:pt x="7201662" y="1722119"/>
                  </a:lnTo>
                </a:path>
                <a:path w="8324850" h="1722120">
                  <a:moveTo>
                    <a:pt x="8059674" y="1722119"/>
                  </a:moveTo>
                  <a:lnTo>
                    <a:pt x="8324342" y="1722119"/>
                  </a:lnTo>
                </a:path>
                <a:path w="8324850" h="1722120">
                  <a:moveTo>
                    <a:pt x="6364986" y="1722119"/>
                  </a:moveTo>
                  <a:lnTo>
                    <a:pt x="6428994" y="1722119"/>
                  </a:lnTo>
                </a:path>
                <a:path w="8324850" h="1722120">
                  <a:moveTo>
                    <a:pt x="6057138" y="1722119"/>
                  </a:moveTo>
                  <a:lnTo>
                    <a:pt x="6122670" y="1722119"/>
                  </a:lnTo>
                </a:path>
                <a:path w="8324850" h="1722120">
                  <a:moveTo>
                    <a:pt x="3589781" y="1722119"/>
                  </a:moveTo>
                  <a:lnTo>
                    <a:pt x="3655314" y="1722119"/>
                  </a:lnTo>
                </a:path>
                <a:path w="8324850" h="1722120">
                  <a:moveTo>
                    <a:pt x="3897629" y="1722119"/>
                  </a:moveTo>
                  <a:lnTo>
                    <a:pt x="4427982" y="1722119"/>
                  </a:lnTo>
                </a:path>
                <a:path w="8324850" h="1722120">
                  <a:moveTo>
                    <a:pt x="1895094" y="1722119"/>
                  </a:moveTo>
                  <a:lnTo>
                    <a:pt x="1960625" y="1722119"/>
                  </a:lnTo>
                </a:path>
                <a:path w="8324850" h="1722120">
                  <a:moveTo>
                    <a:pt x="506730" y="1722119"/>
                  </a:moveTo>
                  <a:lnTo>
                    <a:pt x="572262" y="1722119"/>
                  </a:lnTo>
                </a:path>
                <a:path w="8324850" h="1722120">
                  <a:moveTo>
                    <a:pt x="4668774" y="1722119"/>
                  </a:moveTo>
                  <a:lnTo>
                    <a:pt x="4734306" y="1722119"/>
                  </a:lnTo>
                </a:path>
                <a:path w="8324850" h="1722120">
                  <a:moveTo>
                    <a:pt x="3281933" y="1722119"/>
                  </a:moveTo>
                  <a:lnTo>
                    <a:pt x="3347466" y="1722119"/>
                  </a:lnTo>
                </a:path>
                <a:path w="8324850" h="1722120">
                  <a:moveTo>
                    <a:pt x="4976622" y="1722119"/>
                  </a:moveTo>
                  <a:lnTo>
                    <a:pt x="5042154" y="1722119"/>
                  </a:lnTo>
                </a:path>
                <a:path w="8324850" h="1722120">
                  <a:moveTo>
                    <a:pt x="7443978" y="1722119"/>
                  </a:moveTo>
                  <a:lnTo>
                    <a:pt x="7509510" y="1722119"/>
                  </a:lnTo>
                </a:path>
                <a:path w="8324850" h="1722120">
                  <a:moveTo>
                    <a:pt x="7751826" y="1722119"/>
                  </a:moveTo>
                  <a:lnTo>
                    <a:pt x="7817358" y="1722119"/>
                  </a:lnTo>
                </a:path>
                <a:path w="8324850" h="1722120">
                  <a:moveTo>
                    <a:pt x="2509266" y="1722119"/>
                  </a:moveTo>
                  <a:lnTo>
                    <a:pt x="3039618" y="1722119"/>
                  </a:lnTo>
                </a:path>
                <a:path w="8324850" h="1722120">
                  <a:moveTo>
                    <a:pt x="0" y="1722119"/>
                  </a:moveTo>
                  <a:lnTo>
                    <a:pt x="264413" y="1722119"/>
                  </a:lnTo>
                </a:path>
                <a:path w="8324850" h="1722120">
                  <a:moveTo>
                    <a:pt x="5284470" y="1722119"/>
                  </a:moveTo>
                  <a:lnTo>
                    <a:pt x="5814822" y="1722119"/>
                  </a:lnTo>
                </a:path>
                <a:path w="8324850" h="1722120">
                  <a:moveTo>
                    <a:pt x="814577" y="1722119"/>
                  </a:moveTo>
                  <a:lnTo>
                    <a:pt x="880109" y="1722119"/>
                  </a:lnTo>
                </a:path>
                <a:path w="8324850" h="1722120">
                  <a:moveTo>
                    <a:pt x="2201418" y="1722119"/>
                  </a:moveTo>
                  <a:lnTo>
                    <a:pt x="2266949" y="1722119"/>
                  </a:lnTo>
                </a:path>
                <a:path w="8324850" h="1722120">
                  <a:moveTo>
                    <a:pt x="1122426" y="1722119"/>
                  </a:moveTo>
                  <a:lnTo>
                    <a:pt x="1652778" y="1722119"/>
                  </a:lnTo>
                </a:path>
                <a:path w="8324850" h="1722120">
                  <a:moveTo>
                    <a:pt x="2201418" y="1290827"/>
                  </a:moveTo>
                  <a:lnTo>
                    <a:pt x="2266949" y="1290827"/>
                  </a:lnTo>
                </a:path>
                <a:path w="8324850" h="1722120">
                  <a:moveTo>
                    <a:pt x="1895094" y="1290827"/>
                  </a:moveTo>
                  <a:lnTo>
                    <a:pt x="1960625" y="1290827"/>
                  </a:lnTo>
                </a:path>
                <a:path w="8324850" h="1722120">
                  <a:moveTo>
                    <a:pt x="4976622" y="1290827"/>
                  </a:moveTo>
                  <a:lnTo>
                    <a:pt x="5042154" y="1290827"/>
                  </a:lnTo>
                </a:path>
                <a:path w="8324850" h="1722120">
                  <a:moveTo>
                    <a:pt x="6057138" y="1290827"/>
                  </a:moveTo>
                  <a:lnTo>
                    <a:pt x="6122670" y="1290827"/>
                  </a:lnTo>
                </a:path>
                <a:path w="8324850" h="1722120">
                  <a:moveTo>
                    <a:pt x="0" y="1290827"/>
                  </a:moveTo>
                  <a:lnTo>
                    <a:pt x="264413" y="1290827"/>
                  </a:lnTo>
                </a:path>
                <a:path w="8324850" h="1722120">
                  <a:moveTo>
                    <a:pt x="3281933" y="1290827"/>
                  </a:moveTo>
                  <a:lnTo>
                    <a:pt x="3347466" y="1290827"/>
                  </a:lnTo>
                </a:path>
                <a:path w="8324850" h="1722120">
                  <a:moveTo>
                    <a:pt x="5284470" y="1290827"/>
                  </a:moveTo>
                  <a:lnTo>
                    <a:pt x="5814822" y="1290827"/>
                  </a:lnTo>
                </a:path>
                <a:path w="8324850" h="1722120">
                  <a:moveTo>
                    <a:pt x="2509266" y="1290827"/>
                  </a:moveTo>
                  <a:lnTo>
                    <a:pt x="3039618" y="1290827"/>
                  </a:lnTo>
                </a:path>
                <a:path w="8324850" h="1722120">
                  <a:moveTo>
                    <a:pt x="814577" y="1290827"/>
                  </a:moveTo>
                  <a:lnTo>
                    <a:pt x="880109" y="1290827"/>
                  </a:lnTo>
                </a:path>
                <a:path w="8324850" h="1722120">
                  <a:moveTo>
                    <a:pt x="1122426" y="1290827"/>
                  </a:moveTo>
                  <a:lnTo>
                    <a:pt x="1652778" y="1290827"/>
                  </a:lnTo>
                </a:path>
                <a:path w="8324850" h="1722120">
                  <a:moveTo>
                    <a:pt x="4668774" y="1290827"/>
                  </a:moveTo>
                  <a:lnTo>
                    <a:pt x="4734306" y="1290827"/>
                  </a:lnTo>
                </a:path>
                <a:path w="8324850" h="1722120">
                  <a:moveTo>
                    <a:pt x="6671310" y="1290827"/>
                  </a:moveTo>
                  <a:lnTo>
                    <a:pt x="7201662" y="1290827"/>
                  </a:lnTo>
                </a:path>
                <a:path w="8324850" h="1722120">
                  <a:moveTo>
                    <a:pt x="7443978" y="1290827"/>
                  </a:moveTo>
                  <a:lnTo>
                    <a:pt x="7509510" y="1290827"/>
                  </a:lnTo>
                </a:path>
                <a:path w="8324850" h="1722120">
                  <a:moveTo>
                    <a:pt x="7751826" y="1290827"/>
                  </a:moveTo>
                  <a:lnTo>
                    <a:pt x="7817358" y="1290827"/>
                  </a:lnTo>
                </a:path>
                <a:path w="8324850" h="1722120">
                  <a:moveTo>
                    <a:pt x="6364986" y="1290827"/>
                  </a:moveTo>
                  <a:lnTo>
                    <a:pt x="6428994" y="1290827"/>
                  </a:lnTo>
                </a:path>
                <a:path w="8324850" h="1722120">
                  <a:moveTo>
                    <a:pt x="3589781" y="1290827"/>
                  </a:moveTo>
                  <a:lnTo>
                    <a:pt x="3655314" y="1290827"/>
                  </a:lnTo>
                </a:path>
                <a:path w="8324850" h="1722120">
                  <a:moveTo>
                    <a:pt x="506730" y="1290827"/>
                  </a:moveTo>
                  <a:lnTo>
                    <a:pt x="572262" y="1290827"/>
                  </a:lnTo>
                </a:path>
                <a:path w="8324850" h="1722120">
                  <a:moveTo>
                    <a:pt x="8059674" y="1290827"/>
                  </a:moveTo>
                  <a:lnTo>
                    <a:pt x="8324342" y="1290827"/>
                  </a:lnTo>
                </a:path>
                <a:path w="8324850" h="1722120">
                  <a:moveTo>
                    <a:pt x="3897629" y="1290827"/>
                  </a:moveTo>
                  <a:lnTo>
                    <a:pt x="4427982" y="1290827"/>
                  </a:lnTo>
                </a:path>
                <a:path w="8324850" h="1722120">
                  <a:moveTo>
                    <a:pt x="6671310" y="861059"/>
                  </a:moveTo>
                  <a:lnTo>
                    <a:pt x="7201662" y="861059"/>
                  </a:lnTo>
                </a:path>
                <a:path w="8324850" h="1722120">
                  <a:moveTo>
                    <a:pt x="7443978" y="861059"/>
                  </a:moveTo>
                  <a:lnTo>
                    <a:pt x="7509510" y="861059"/>
                  </a:lnTo>
                </a:path>
                <a:path w="8324850" h="1722120">
                  <a:moveTo>
                    <a:pt x="8059674" y="861059"/>
                  </a:moveTo>
                  <a:lnTo>
                    <a:pt x="8324342" y="861059"/>
                  </a:lnTo>
                </a:path>
                <a:path w="8324850" h="1722120">
                  <a:moveTo>
                    <a:pt x="4668774" y="861059"/>
                  </a:moveTo>
                  <a:lnTo>
                    <a:pt x="4734306" y="861059"/>
                  </a:lnTo>
                </a:path>
                <a:path w="8324850" h="1722120">
                  <a:moveTo>
                    <a:pt x="6364986" y="861059"/>
                  </a:moveTo>
                  <a:lnTo>
                    <a:pt x="6428994" y="861059"/>
                  </a:lnTo>
                </a:path>
                <a:path w="8324850" h="1722120">
                  <a:moveTo>
                    <a:pt x="6057138" y="861059"/>
                  </a:moveTo>
                  <a:lnTo>
                    <a:pt x="6122670" y="861059"/>
                  </a:lnTo>
                </a:path>
                <a:path w="8324850" h="1722120">
                  <a:moveTo>
                    <a:pt x="5284470" y="861059"/>
                  </a:moveTo>
                  <a:lnTo>
                    <a:pt x="5814822" y="861059"/>
                  </a:lnTo>
                </a:path>
                <a:path w="8324850" h="1722120">
                  <a:moveTo>
                    <a:pt x="3897629" y="861059"/>
                  </a:moveTo>
                  <a:lnTo>
                    <a:pt x="4427982" y="861059"/>
                  </a:lnTo>
                </a:path>
                <a:path w="8324850" h="1722120">
                  <a:moveTo>
                    <a:pt x="3281933" y="861059"/>
                  </a:moveTo>
                  <a:lnTo>
                    <a:pt x="3347466" y="861059"/>
                  </a:lnTo>
                </a:path>
                <a:path w="8324850" h="1722120">
                  <a:moveTo>
                    <a:pt x="0" y="861059"/>
                  </a:moveTo>
                  <a:lnTo>
                    <a:pt x="3039618" y="861059"/>
                  </a:lnTo>
                </a:path>
                <a:path w="8324850" h="1722120">
                  <a:moveTo>
                    <a:pt x="4976622" y="861059"/>
                  </a:moveTo>
                  <a:lnTo>
                    <a:pt x="5042154" y="861059"/>
                  </a:lnTo>
                </a:path>
                <a:path w="8324850" h="1722120">
                  <a:moveTo>
                    <a:pt x="3589781" y="861059"/>
                  </a:moveTo>
                  <a:lnTo>
                    <a:pt x="3655314" y="861059"/>
                  </a:lnTo>
                </a:path>
                <a:path w="8324850" h="1722120">
                  <a:moveTo>
                    <a:pt x="7751826" y="861059"/>
                  </a:moveTo>
                  <a:lnTo>
                    <a:pt x="7817358" y="861059"/>
                  </a:lnTo>
                </a:path>
                <a:path w="8324850" h="1722120">
                  <a:moveTo>
                    <a:pt x="7443978" y="429767"/>
                  </a:moveTo>
                  <a:lnTo>
                    <a:pt x="7509510" y="429767"/>
                  </a:lnTo>
                </a:path>
                <a:path w="8324850" h="1722120">
                  <a:moveTo>
                    <a:pt x="6671310" y="429767"/>
                  </a:moveTo>
                  <a:lnTo>
                    <a:pt x="7201662" y="429767"/>
                  </a:lnTo>
                </a:path>
                <a:path w="8324850" h="1722120">
                  <a:moveTo>
                    <a:pt x="4976622" y="429767"/>
                  </a:moveTo>
                  <a:lnTo>
                    <a:pt x="5814822" y="429767"/>
                  </a:lnTo>
                </a:path>
                <a:path w="8324850" h="1722120">
                  <a:moveTo>
                    <a:pt x="6364986" y="429767"/>
                  </a:moveTo>
                  <a:lnTo>
                    <a:pt x="6428994" y="429767"/>
                  </a:lnTo>
                </a:path>
                <a:path w="8324850" h="1722120">
                  <a:moveTo>
                    <a:pt x="6057138" y="429767"/>
                  </a:moveTo>
                  <a:lnTo>
                    <a:pt x="6122670" y="429767"/>
                  </a:lnTo>
                </a:path>
                <a:path w="8324850" h="1722120">
                  <a:moveTo>
                    <a:pt x="0" y="429767"/>
                  </a:moveTo>
                  <a:lnTo>
                    <a:pt x="4734306" y="429767"/>
                  </a:lnTo>
                </a:path>
                <a:path w="8324850" h="1722120">
                  <a:moveTo>
                    <a:pt x="7751826" y="429767"/>
                  </a:moveTo>
                  <a:lnTo>
                    <a:pt x="7817358" y="429767"/>
                  </a:lnTo>
                </a:path>
                <a:path w="8324850" h="1722120">
                  <a:moveTo>
                    <a:pt x="8059674" y="429767"/>
                  </a:moveTo>
                  <a:lnTo>
                    <a:pt x="8324342" y="429767"/>
                  </a:lnTo>
                </a:path>
                <a:path w="8324850" h="1722120">
                  <a:moveTo>
                    <a:pt x="8059674" y="0"/>
                  </a:moveTo>
                  <a:lnTo>
                    <a:pt x="8324342" y="0"/>
                  </a:lnTo>
                </a:path>
                <a:path w="8324850" h="1722120">
                  <a:moveTo>
                    <a:pt x="7751826" y="0"/>
                  </a:moveTo>
                  <a:lnTo>
                    <a:pt x="7817358" y="0"/>
                  </a:lnTo>
                </a:path>
                <a:path w="8324850" h="1722120">
                  <a:moveTo>
                    <a:pt x="7443978" y="0"/>
                  </a:moveTo>
                  <a:lnTo>
                    <a:pt x="7509510" y="0"/>
                  </a:lnTo>
                </a:path>
                <a:path w="8324850" h="1722120">
                  <a:moveTo>
                    <a:pt x="6364986" y="0"/>
                  </a:moveTo>
                  <a:lnTo>
                    <a:pt x="6428994" y="0"/>
                  </a:lnTo>
                </a:path>
                <a:path w="8324850" h="1722120">
                  <a:moveTo>
                    <a:pt x="6671310" y="0"/>
                  </a:moveTo>
                  <a:lnTo>
                    <a:pt x="7201662" y="0"/>
                  </a:lnTo>
                </a:path>
                <a:path w="8324850" h="1722120">
                  <a:moveTo>
                    <a:pt x="6057138" y="0"/>
                  </a:moveTo>
                  <a:lnTo>
                    <a:pt x="6122670" y="0"/>
                  </a:lnTo>
                </a:path>
                <a:path w="8324850" h="1722120">
                  <a:moveTo>
                    <a:pt x="0" y="0"/>
                  </a:moveTo>
                  <a:lnTo>
                    <a:pt x="5814822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4144" y="1789175"/>
              <a:ext cx="7179945" cy="2370455"/>
            </a:xfrm>
            <a:custGeom>
              <a:avLst/>
              <a:gdLst/>
              <a:ahLst/>
              <a:cxnLst/>
              <a:rect l="l" t="t" r="r" b="b"/>
              <a:pathLst>
                <a:path w="7179945" h="2370454">
                  <a:moveTo>
                    <a:pt x="242316" y="1194816"/>
                  </a:moveTo>
                  <a:lnTo>
                    <a:pt x="0" y="1194816"/>
                  </a:lnTo>
                  <a:lnTo>
                    <a:pt x="0" y="2370074"/>
                  </a:lnTo>
                  <a:lnTo>
                    <a:pt x="242316" y="2370074"/>
                  </a:lnTo>
                  <a:lnTo>
                    <a:pt x="242316" y="1194816"/>
                  </a:lnTo>
                  <a:close/>
                </a:path>
                <a:path w="7179945" h="2370454">
                  <a:moveTo>
                    <a:pt x="1630680" y="1289304"/>
                  </a:moveTo>
                  <a:lnTo>
                    <a:pt x="1388364" y="1289304"/>
                  </a:lnTo>
                  <a:lnTo>
                    <a:pt x="1388364" y="2370074"/>
                  </a:lnTo>
                  <a:lnTo>
                    <a:pt x="1630680" y="2370074"/>
                  </a:lnTo>
                  <a:lnTo>
                    <a:pt x="1630680" y="1289304"/>
                  </a:lnTo>
                  <a:close/>
                </a:path>
                <a:path w="7179945" h="2370454">
                  <a:moveTo>
                    <a:pt x="3017520" y="957072"/>
                  </a:moveTo>
                  <a:lnTo>
                    <a:pt x="2775204" y="957072"/>
                  </a:lnTo>
                  <a:lnTo>
                    <a:pt x="2775204" y="2370074"/>
                  </a:lnTo>
                  <a:lnTo>
                    <a:pt x="3017520" y="2370074"/>
                  </a:lnTo>
                  <a:lnTo>
                    <a:pt x="3017520" y="957072"/>
                  </a:lnTo>
                  <a:close/>
                </a:path>
                <a:path w="7179945" h="2370454">
                  <a:moveTo>
                    <a:pt x="4404360" y="670560"/>
                  </a:moveTo>
                  <a:lnTo>
                    <a:pt x="4163568" y="670560"/>
                  </a:lnTo>
                  <a:lnTo>
                    <a:pt x="4163568" y="2370074"/>
                  </a:lnTo>
                  <a:lnTo>
                    <a:pt x="4404360" y="2370074"/>
                  </a:lnTo>
                  <a:lnTo>
                    <a:pt x="4404360" y="670560"/>
                  </a:lnTo>
                  <a:close/>
                </a:path>
                <a:path w="7179945" h="2370454">
                  <a:moveTo>
                    <a:pt x="5792724" y="112776"/>
                  </a:moveTo>
                  <a:lnTo>
                    <a:pt x="5550408" y="112776"/>
                  </a:lnTo>
                  <a:lnTo>
                    <a:pt x="5550408" y="2370074"/>
                  </a:lnTo>
                  <a:lnTo>
                    <a:pt x="5792724" y="2370074"/>
                  </a:lnTo>
                  <a:lnTo>
                    <a:pt x="5792724" y="112776"/>
                  </a:lnTo>
                  <a:close/>
                </a:path>
                <a:path w="7179945" h="2370454">
                  <a:moveTo>
                    <a:pt x="7179564" y="0"/>
                  </a:moveTo>
                  <a:lnTo>
                    <a:pt x="6937248" y="0"/>
                  </a:lnTo>
                  <a:lnTo>
                    <a:pt x="6937248" y="2370074"/>
                  </a:lnTo>
                  <a:lnTo>
                    <a:pt x="7179564" y="2370074"/>
                  </a:lnTo>
                  <a:lnTo>
                    <a:pt x="7179564" y="0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21992" y="1708403"/>
              <a:ext cx="7179945" cy="2451100"/>
            </a:xfrm>
            <a:custGeom>
              <a:avLst/>
              <a:gdLst/>
              <a:ahLst/>
              <a:cxnLst/>
              <a:rect l="l" t="t" r="r" b="b"/>
              <a:pathLst>
                <a:path w="7179945" h="2451100">
                  <a:moveTo>
                    <a:pt x="242316" y="1252728"/>
                  </a:moveTo>
                  <a:lnTo>
                    <a:pt x="0" y="1252728"/>
                  </a:lnTo>
                  <a:lnTo>
                    <a:pt x="0" y="2450846"/>
                  </a:lnTo>
                  <a:lnTo>
                    <a:pt x="242316" y="2450846"/>
                  </a:lnTo>
                  <a:lnTo>
                    <a:pt x="242316" y="1252728"/>
                  </a:lnTo>
                  <a:close/>
                </a:path>
                <a:path w="7179945" h="2451100">
                  <a:moveTo>
                    <a:pt x="1629156" y="1344168"/>
                  </a:moveTo>
                  <a:lnTo>
                    <a:pt x="1388364" y="1344168"/>
                  </a:lnTo>
                  <a:lnTo>
                    <a:pt x="1388364" y="2450846"/>
                  </a:lnTo>
                  <a:lnTo>
                    <a:pt x="1629156" y="2450846"/>
                  </a:lnTo>
                  <a:lnTo>
                    <a:pt x="1629156" y="1344168"/>
                  </a:lnTo>
                  <a:close/>
                </a:path>
                <a:path w="7179945" h="2451100">
                  <a:moveTo>
                    <a:pt x="3017520" y="1025652"/>
                  </a:moveTo>
                  <a:lnTo>
                    <a:pt x="2775204" y="1025652"/>
                  </a:lnTo>
                  <a:lnTo>
                    <a:pt x="2775204" y="2450846"/>
                  </a:lnTo>
                  <a:lnTo>
                    <a:pt x="3017520" y="2450846"/>
                  </a:lnTo>
                  <a:lnTo>
                    <a:pt x="3017520" y="1025652"/>
                  </a:lnTo>
                  <a:close/>
                </a:path>
                <a:path w="7179945" h="2451100">
                  <a:moveTo>
                    <a:pt x="4404360" y="716280"/>
                  </a:moveTo>
                  <a:lnTo>
                    <a:pt x="4162044" y="716280"/>
                  </a:lnTo>
                  <a:lnTo>
                    <a:pt x="4162044" y="2450846"/>
                  </a:lnTo>
                  <a:lnTo>
                    <a:pt x="4404360" y="2450846"/>
                  </a:lnTo>
                  <a:lnTo>
                    <a:pt x="4404360" y="716280"/>
                  </a:lnTo>
                  <a:close/>
                </a:path>
                <a:path w="7179945" h="2451100">
                  <a:moveTo>
                    <a:pt x="5792724" y="187452"/>
                  </a:moveTo>
                  <a:lnTo>
                    <a:pt x="5550408" y="187452"/>
                  </a:lnTo>
                  <a:lnTo>
                    <a:pt x="5550408" y="2450846"/>
                  </a:lnTo>
                  <a:lnTo>
                    <a:pt x="5792724" y="2450846"/>
                  </a:lnTo>
                  <a:lnTo>
                    <a:pt x="5792724" y="187452"/>
                  </a:lnTo>
                  <a:close/>
                </a:path>
                <a:path w="7179945" h="2451100">
                  <a:moveTo>
                    <a:pt x="7179564" y="0"/>
                  </a:moveTo>
                  <a:lnTo>
                    <a:pt x="6937248" y="0"/>
                  </a:lnTo>
                  <a:lnTo>
                    <a:pt x="6937248" y="2450846"/>
                  </a:lnTo>
                  <a:lnTo>
                    <a:pt x="7179564" y="2450846"/>
                  </a:lnTo>
                  <a:lnTo>
                    <a:pt x="7179564" y="0"/>
                  </a:lnTo>
                  <a:close/>
                </a:path>
              </a:pathLst>
            </a:custGeom>
            <a:solidFill>
              <a:srgbClr val="D2B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29840" y="1816607"/>
              <a:ext cx="7179945" cy="2343150"/>
            </a:xfrm>
            <a:custGeom>
              <a:avLst/>
              <a:gdLst/>
              <a:ahLst/>
              <a:cxnLst/>
              <a:rect l="l" t="t" r="r" b="b"/>
              <a:pathLst>
                <a:path w="7179945" h="2343150">
                  <a:moveTo>
                    <a:pt x="242316" y="1200912"/>
                  </a:moveTo>
                  <a:lnTo>
                    <a:pt x="0" y="1200912"/>
                  </a:lnTo>
                  <a:lnTo>
                    <a:pt x="0" y="2342642"/>
                  </a:lnTo>
                  <a:lnTo>
                    <a:pt x="242316" y="2342642"/>
                  </a:lnTo>
                  <a:lnTo>
                    <a:pt x="242316" y="1200912"/>
                  </a:lnTo>
                  <a:close/>
                </a:path>
                <a:path w="7179945" h="2343150">
                  <a:moveTo>
                    <a:pt x="1629156" y="1252728"/>
                  </a:moveTo>
                  <a:lnTo>
                    <a:pt x="1386840" y="1252728"/>
                  </a:lnTo>
                  <a:lnTo>
                    <a:pt x="1386840" y="2342642"/>
                  </a:lnTo>
                  <a:lnTo>
                    <a:pt x="1629156" y="2342642"/>
                  </a:lnTo>
                  <a:lnTo>
                    <a:pt x="1629156" y="1252728"/>
                  </a:lnTo>
                  <a:close/>
                </a:path>
                <a:path w="7179945" h="2343150">
                  <a:moveTo>
                    <a:pt x="3017520" y="926592"/>
                  </a:moveTo>
                  <a:lnTo>
                    <a:pt x="2775204" y="926592"/>
                  </a:lnTo>
                  <a:lnTo>
                    <a:pt x="2775204" y="2342642"/>
                  </a:lnTo>
                  <a:lnTo>
                    <a:pt x="3017520" y="2342642"/>
                  </a:lnTo>
                  <a:lnTo>
                    <a:pt x="3017520" y="926592"/>
                  </a:lnTo>
                  <a:close/>
                </a:path>
                <a:path w="7179945" h="2343150">
                  <a:moveTo>
                    <a:pt x="4404360" y="656844"/>
                  </a:moveTo>
                  <a:lnTo>
                    <a:pt x="4162044" y="656844"/>
                  </a:lnTo>
                  <a:lnTo>
                    <a:pt x="4162044" y="2342642"/>
                  </a:lnTo>
                  <a:lnTo>
                    <a:pt x="4404360" y="2342642"/>
                  </a:lnTo>
                  <a:lnTo>
                    <a:pt x="4404360" y="656844"/>
                  </a:lnTo>
                  <a:close/>
                </a:path>
                <a:path w="7179945" h="2343150">
                  <a:moveTo>
                    <a:pt x="5791200" y="117348"/>
                  </a:moveTo>
                  <a:lnTo>
                    <a:pt x="5548884" y="117348"/>
                  </a:lnTo>
                  <a:lnTo>
                    <a:pt x="5548884" y="2342642"/>
                  </a:lnTo>
                  <a:lnTo>
                    <a:pt x="5791200" y="2342642"/>
                  </a:lnTo>
                  <a:lnTo>
                    <a:pt x="5791200" y="117348"/>
                  </a:lnTo>
                  <a:close/>
                </a:path>
                <a:path w="7179945" h="2343150">
                  <a:moveTo>
                    <a:pt x="7179564" y="0"/>
                  </a:moveTo>
                  <a:lnTo>
                    <a:pt x="6937248" y="0"/>
                  </a:lnTo>
                  <a:lnTo>
                    <a:pt x="6937248" y="2342642"/>
                  </a:lnTo>
                  <a:lnTo>
                    <a:pt x="7179564" y="2342642"/>
                  </a:lnTo>
                  <a:lnTo>
                    <a:pt x="7179564" y="0"/>
                  </a:lnTo>
                  <a:close/>
                </a:path>
              </a:pathLst>
            </a:custGeom>
            <a:solidFill>
              <a:srgbClr val="B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9729" y="4159250"/>
              <a:ext cx="8324850" cy="0"/>
            </a:xfrm>
            <a:custGeom>
              <a:avLst/>
              <a:gdLst/>
              <a:ahLst/>
              <a:cxnLst/>
              <a:rect l="l" t="t" r="r" b="b"/>
              <a:pathLst>
                <a:path w="8324850">
                  <a:moveTo>
                    <a:pt x="0" y="0"/>
                  </a:moveTo>
                  <a:lnTo>
                    <a:pt x="8324342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649729" y="1576832"/>
            <a:ext cx="8324850" cy="0"/>
          </a:xfrm>
          <a:custGeom>
            <a:avLst/>
            <a:gdLst/>
            <a:ahLst/>
            <a:cxnLst/>
            <a:rect l="l" t="t" r="r" b="b"/>
            <a:pathLst>
              <a:path w="8324850">
                <a:moveTo>
                  <a:pt x="0" y="0"/>
                </a:moveTo>
                <a:lnTo>
                  <a:pt x="8324342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84300" y="3206877"/>
            <a:ext cx="57785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R20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R10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4300" y="2775915"/>
            <a:ext cx="5778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R30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4300" y="1484452"/>
            <a:ext cx="577850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5" dirty="0">
                <a:solidFill>
                  <a:srgbClr val="FFFFFF"/>
                </a:solidFill>
                <a:latin typeface="Georgia"/>
                <a:cs typeface="Georgia"/>
              </a:rPr>
              <a:t>R60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R50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R40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46502" y="4208779"/>
            <a:ext cx="1955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Jan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27501" y="4208779"/>
            <a:ext cx="207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Feb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02529" y="4208779"/>
            <a:ext cx="232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Mar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99021" y="4208779"/>
            <a:ext cx="215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Apr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68843" y="4208779"/>
            <a:ext cx="2501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May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80703" y="4208779"/>
            <a:ext cx="201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Jun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28794" y="1186688"/>
            <a:ext cx="2523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Monthly</a:t>
            </a:r>
            <a:r>
              <a:rPr sz="1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45" dirty="0">
                <a:solidFill>
                  <a:srgbClr val="FFFFFF"/>
                </a:solidFill>
                <a:latin typeface="Georgia"/>
                <a:cs typeface="Georgia"/>
              </a:rPr>
              <a:t> Trend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 Store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172065" y="270414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172065" y="291102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D2B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172065" y="311778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A85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245090" y="2572258"/>
            <a:ext cx="908050" cy="64643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Astoria</a:t>
            </a:r>
            <a:endParaRPr sz="900">
              <a:latin typeface="Georgia"/>
              <a:cs typeface="Georgia"/>
            </a:endParaRPr>
          </a:p>
          <a:p>
            <a:pPr marL="12700" marR="5080">
              <a:lnSpc>
                <a:spcPct val="150800"/>
              </a:lnSpc>
            </a:pP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Hell's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Kitchen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Lower</a:t>
            </a:r>
            <a:r>
              <a:rPr sz="9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Manhattan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67155" y="5129784"/>
            <a:ext cx="11238865" cy="796290"/>
            <a:chOff x="867155" y="5129784"/>
            <a:chExt cx="11238865" cy="796290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8531" y="5129784"/>
              <a:ext cx="4924806" cy="5204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8632" y="5131308"/>
              <a:ext cx="4664202" cy="5204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29087" y="5129784"/>
              <a:ext cx="1876805" cy="5204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7155" y="5423916"/>
              <a:ext cx="497573" cy="48540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4523" y="5404104"/>
              <a:ext cx="799338" cy="52043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29155" y="5404104"/>
              <a:ext cx="3077718" cy="5204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2167" y="5405628"/>
              <a:ext cx="1931669" cy="52043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9132" y="5404104"/>
              <a:ext cx="4690110" cy="52043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93139" y="5189601"/>
            <a:ext cx="10960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"/>
              <a:tabLst>
                <a:tab pos="363220" algn="l"/>
              </a:tabLst>
            </a:pP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increased</a:t>
            </a:r>
            <a:r>
              <a:rPr sz="1800" spc="1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steadily</a:t>
            </a:r>
            <a:r>
              <a:rPr sz="1800" spc="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from</a:t>
            </a:r>
            <a:r>
              <a:rPr sz="1800" spc="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approximately</a:t>
            </a:r>
            <a:r>
              <a:rPr sz="1800" spc="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b="1" spc="55" dirty="0">
                <a:solidFill>
                  <a:srgbClr val="F1F1F1"/>
                </a:solidFill>
                <a:latin typeface="Calibri"/>
                <a:cs typeface="Calibri"/>
              </a:rPr>
              <a:t>R26,000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80" dirty="0">
                <a:solidFill>
                  <a:srgbClr val="F1F1F1"/>
                </a:solidFill>
                <a:latin typeface="Calibri"/>
                <a:cs typeface="Calibri"/>
              </a:rPr>
              <a:t>in</a:t>
            </a:r>
            <a:r>
              <a:rPr sz="1800" b="1" spc="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50" dirty="0">
                <a:solidFill>
                  <a:srgbClr val="F1F1F1"/>
                </a:solidFill>
                <a:latin typeface="Calibri"/>
                <a:cs typeface="Calibri"/>
              </a:rPr>
              <a:t>January</a:t>
            </a:r>
            <a:r>
              <a:rPr sz="1800" b="1" spc="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to</a:t>
            </a:r>
            <a:r>
              <a:rPr sz="1800" b="1" spc="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over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55" dirty="0">
                <a:solidFill>
                  <a:srgbClr val="F1F1F1"/>
                </a:solidFill>
                <a:latin typeface="Calibri"/>
                <a:cs typeface="Calibri"/>
              </a:rPr>
              <a:t>R55,000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80" dirty="0">
                <a:solidFill>
                  <a:srgbClr val="F1F1F1"/>
                </a:solidFill>
                <a:latin typeface="Calibri"/>
                <a:cs typeface="Calibri"/>
              </a:rPr>
              <a:t>in</a:t>
            </a:r>
            <a:r>
              <a:rPr sz="1800" b="1" spc="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June</a:t>
            </a:r>
            <a:r>
              <a:rPr sz="1800" b="1" spc="9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across</a:t>
            </a:r>
            <a:r>
              <a:rPr sz="1800" spc="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all</a:t>
            </a:r>
            <a:r>
              <a:rPr sz="1800" spc="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stores.</a:t>
            </a:r>
            <a:endParaRPr sz="1800">
              <a:latin typeface="Georgia"/>
              <a:cs typeface="Georgia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reflects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an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overall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growth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of</a:t>
            </a:r>
            <a:r>
              <a:rPr sz="1800" spc="20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more</a:t>
            </a:r>
            <a:r>
              <a:rPr sz="1800" b="1" spc="1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than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100%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,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indicating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strong</a:t>
            </a:r>
            <a:r>
              <a:rPr sz="1800" spc="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upward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sales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performance.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6803" y="493788"/>
            <a:ext cx="3630929" cy="415290"/>
            <a:chOff x="4146803" y="493788"/>
            <a:chExt cx="3630929" cy="4152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6803" y="493788"/>
              <a:ext cx="3630929" cy="4152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72711" y="519696"/>
              <a:ext cx="3577590" cy="3558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7062" y="540385"/>
              <a:ext cx="3564763" cy="34404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4471428"/>
            <a:ext cx="6752590" cy="1617980"/>
            <a:chOff x="867155" y="4471428"/>
            <a:chExt cx="6752590" cy="16179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4491215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4471428"/>
              <a:ext cx="52966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99" y="4745748"/>
              <a:ext cx="1760982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4975" y="4747272"/>
              <a:ext cx="1259586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19855" y="4745748"/>
              <a:ext cx="4199382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99" y="5020068"/>
              <a:ext cx="1390650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4644" y="5020068"/>
              <a:ext cx="378701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5314187"/>
              <a:ext cx="497573" cy="4854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9179" y="5294375"/>
              <a:ext cx="6023610" cy="5204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8699" y="5568695"/>
              <a:ext cx="4098798" cy="52043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92530" y="4531232"/>
            <a:ext cx="64160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Hell’s</a:t>
            </a:r>
            <a:r>
              <a:rPr sz="1800" spc="-9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Kitchen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recorded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the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highest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total </a:t>
            </a:r>
            <a:r>
              <a:rPr sz="1800" spc="-75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at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approximately 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R236,511</a:t>
            </a:r>
            <a:r>
              <a:rPr sz="1800" spc="45" dirty="0">
                <a:solidFill>
                  <a:srgbClr val="F1F1F1"/>
                </a:solidFill>
                <a:latin typeface="Georgia"/>
                <a:cs typeface="Georgia"/>
              </a:rPr>
              <a:t>,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followed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closely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by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Astoria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and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Lower Manhattan.</a:t>
            </a:r>
            <a:endParaRPr sz="1800">
              <a:latin typeface="Georgia"/>
              <a:cs typeface="Georgia"/>
            </a:endParaRPr>
          </a:p>
          <a:p>
            <a:pPr marL="214629" indent="-204470">
              <a:lnSpc>
                <a:spcPct val="100000"/>
              </a:lnSpc>
              <a:buSzPct val="94444"/>
              <a:buFont typeface="Wingdings"/>
              <a:buChar char=""/>
              <a:tabLst>
                <a:tab pos="214629" algn="l"/>
              </a:tabLst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difference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between </a:t>
            </a:r>
            <a:r>
              <a:rPr sz="1800" spc="-70" dirty="0">
                <a:solidFill>
                  <a:srgbClr val="F1F1F1"/>
                </a:solidFill>
                <a:latin typeface="Georgia"/>
                <a:cs typeface="Georgia"/>
              </a:rPr>
              <a:t>stores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relatively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small,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indicating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balanced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performance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across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locations.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746123" y="1630679"/>
            <a:ext cx="9424035" cy="0"/>
          </a:xfrm>
          <a:custGeom>
            <a:avLst/>
            <a:gdLst/>
            <a:ahLst/>
            <a:cxnLst/>
            <a:rect l="l" t="t" r="r" b="b"/>
            <a:pathLst>
              <a:path w="9424035">
                <a:moveTo>
                  <a:pt x="0" y="0"/>
                </a:moveTo>
                <a:lnTo>
                  <a:pt x="9423654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1746123" y="1924811"/>
            <a:ext cx="9424035" cy="2086610"/>
            <a:chOff x="1746123" y="1924811"/>
            <a:chExt cx="9424035" cy="2086610"/>
          </a:xfrm>
        </p:grpSpPr>
        <p:sp>
          <p:nvSpPr>
            <p:cNvPr id="22" name="object 22"/>
            <p:cNvSpPr/>
            <p:nvPr/>
          </p:nvSpPr>
          <p:spPr>
            <a:xfrm>
              <a:off x="3945636" y="3610355"/>
              <a:ext cx="7224395" cy="0"/>
            </a:xfrm>
            <a:custGeom>
              <a:avLst/>
              <a:gdLst/>
              <a:ahLst/>
              <a:cxnLst/>
              <a:rect l="l" t="t" r="r" b="b"/>
              <a:pathLst>
                <a:path w="7224395">
                  <a:moveTo>
                    <a:pt x="0" y="0"/>
                  </a:moveTo>
                  <a:lnTo>
                    <a:pt x="1883664" y="0"/>
                  </a:lnTo>
                </a:path>
                <a:path w="7224395">
                  <a:moveTo>
                    <a:pt x="3140964" y="0"/>
                  </a:moveTo>
                  <a:lnTo>
                    <a:pt x="5024628" y="0"/>
                  </a:lnTo>
                </a:path>
                <a:path w="7224395">
                  <a:moveTo>
                    <a:pt x="6281928" y="0"/>
                  </a:moveTo>
                  <a:lnTo>
                    <a:pt x="722414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46123" y="3610355"/>
              <a:ext cx="942340" cy="0"/>
            </a:xfrm>
            <a:custGeom>
              <a:avLst/>
              <a:gdLst/>
              <a:ahLst/>
              <a:cxnLst/>
              <a:rect l="l" t="t" r="r" b="b"/>
              <a:pathLst>
                <a:path w="942339">
                  <a:moveTo>
                    <a:pt x="0" y="0"/>
                  </a:moveTo>
                  <a:lnTo>
                    <a:pt x="942213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6123" y="2026919"/>
              <a:ext cx="9424035" cy="1187450"/>
            </a:xfrm>
            <a:custGeom>
              <a:avLst/>
              <a:gdLst/>
              <a:ahLst/>
              <a:cxnLst/>
              <a:rect l="l" t="t" r="r" b="b"/>
              <a:pathLst>
                <a:path w="9424035" h="1187450">
                  <a:moveTo>
                    <a:pt x="8481441" y="1187195"/>
                  </a:moveTo>
                  <a:lnTo>
                    <a:pt x="9423654" y="1187195"/>
                  </a:lnTo>
                </a:path>
                <a:path w="9424035" h="1187450">
                  <a:moveTo>
                    <a:pt x="5340477" y="1187195"/>
                  </a:moveTo>
                  <a:lnTo>
                    <a:pt x="7224141" y="1187195"/>
                  </a:lnTo>
                </a:path>
                <a:path w="9424035" h="1187450">
                  <a:moveTo>
                    <a:pt x="2199513" y="1187195"/>
                  </a:moveTo>
                  <a:lnTo>
                    <a:pt x="4083177" y="1187195"/>
                  </a:lnTo>
                </a:path>
                <a:path w="9424035" h="1187450">
                  <a:moveTo>
                    <a:pt x="0" y="1187195"/>
                  </a:moveTo>
                  <a:lnTo>
                    <a:pt x="942213" y="1187195"/>
                  </a:lnTo>
                </a:path>
                <a:path w="9424035" h="1187450">
                  <a:moveTo>
                    <a:pt x="0" y="790955"/>
                  </a:moveTo>
                  <a:lnTo>
                    <a:pt x="942213" y="790955"/>
                  </a:lnTo>
                </a:path>
                <a:path w="9424035" h="1187450">
                  <a:moveTo>
                    <a:pt x="2199513" y="790955"/>
                  </a:moveTo>
                  <a:lnTo>
                    <a:pt x="4083177" y="790955"/>
                  </a:lnTo>
                </a:path>
                <a:path w="9424035" h="1187450">
                  <a:moveTo>
                    <a:pt x="5340477" y="790955"/>
                  </a:moveTo>
                  <a:lnTo>
                    <a:pt x="9423654" y="790955"/>
                  </a:lnTo>
                </a:path>
                <a:path w="9424035" h="1187450">
                  <a:moveTo>
                    <a:pt x="0" y="396239"/>
                  </a:moveTo>
                  <a:lnTo>
                    <a:pt x="4083177" y="396239"/>
                  </a:lnTo>
                </a:path>
                <a:path w="9424035" h="1187450">
                  <a:moveTo>
                    <a:pt x="5340477" y="396239"/>
                  </a:moveTo>
                  <a:lnTo>
                    <a:pt x="9423654" y="396239"/>
                  </a:lnTo>
                </a:path>
                <a:path w="9424035" h="1187450">
                  <a:moveTo>
                    <a:pt x="0" y="0"/>
                  </a:moveTo>
                  <a:lnTo>
                    <a:pt x="4083177" y="0"/>
                  </a:lnTo>
                </a:path>
                <a:path w="9424035" h="1187450">
                  <a:moveTo>
                    <a:pt x="5340477" y="0"/>
                  </a:moveTo>
                  <a:lnTo>
                    <a:pt x="9423654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88336" y="1924811"/>
              <a:ext cx="7539355" cy="2081530"/>
            </a:xfrm>
            <a:custGeom>
              <a:avLst/>
              <a:gdLst/>
              <a:ahLst/>
              <a:cxnLst/>
              <a:rect l="l" t="t" r="r" b="b"/>
              <a:pathLst>
                <a:path w="7539355" h="2081529">
                  <a:moveTo>
                    <a:pt x="1257300" y="845820"/>
                  </a:moveTo>
                  <a:lnTo>
                    <a:pt x="0" y="845820"/>
                  </a:lnTo>
                  <a:lnTo>
                    <a:pt x="0" y="2081530"/>
                  </a:lnTo>
                  <a:lnTo>
                    <a:pt x="1257300" y="2081530"/>
                  </a:lnTo>
                  <a:lnTo>
                    <a:pt x="1257300" y="845820"/>
                  </a:lnTo>
                  <a:close/>
                </a:path>
                <a:path w="7539355" h="2081529">
                  <a:moveTo>
                    <a:pt x="4398264" y="0"/>
                  </a:moveTo>
                  <a:lnTo>
                    <a:pt x="3140964" y="0"/>
                  </a:lnTo>
                  <a:lnTo>
                    <a:pt x="3140964" y="2081530"/>
                  </a:lnTo>
                  <a:lnTo>
                    <a:pt x="4398264" y="2081530"/>
                  </a:lnTo>
                  <a:lnTo>
                    <a:pt x="4398264" y="0"/>
                  </a:lnTo>
                  <a:close/>
                </a:path>
                <a:path w="7539355" h="2081529">
                  <a:moveTo>
                    <a:pt x="7539228" y="1278636"/>
                  </a:moveTo>
                  <a:lnTo>
                    <a:pt x="6281928" y="1278636"/>
                  </a:lnTo>
                  <a:lnTo>
                    <a:pt x="6281928" y="2081530"/>
                  </a:lnTo>
                  <a:lnTo>
                    <a:pt x="7539228" y="2081530"/>
                  </a:lnTo>
                  <a:lnTo>
                    <a:pt x="7539228" y="1278636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46123" y="4006341"/>
              <a:ext cx="9424035" cy="0"/>
            </a:xfrm>
            <a:custGeom>
              <a:avLst/>
              <a:gdLst/>
              <a:ahLst/>
              <a:cxnLst/>
              <a:rect l="l" t="t" r="r" b="b"/>
              <a:pathLst>
                <a:path w="9424035">
                  <a:moveTo>
                    <a:pt x="0" y="0"/>
                  </a:moveTo>
                  <a:lnTo>
                    <a:pt x="9423654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96269" y="3026340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378" y="0"/>
                  </a:moveTo>
                  <a:lnTo>
                    <a:pt x="0" y="0"/>
                  </a:lnTo>
                  <a:lnTo>
                    <a:pt x="0" y="59378"/>
                  </a:lnTo>
                  <a:lnTo>
                    <a:pt x="59378" y="59378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22400" y="3122803"/>
            <a:ext cx="63563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5" dirty="0">
                <a:solidFill>
                  <a:srgbClr val="FFFFFF"/>
                </a:solidFill>
                <a:latin typeface="Georgia"/>
                <a:cs typeface="Georgia"/>
              </a:rPr>
              <a:t>R230</a:t>
            </a:r>
            <a:r>
              <a:rPr sz="9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R228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R226</a:t>
            </a:r>
            <a:r>
              <a:rPr sz="9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9" name="object 29"/>
          <p:cNvSpPr txBox="1"/>
          <p:nvPr/>
        </p:nvSpPr>
        <p:spPr>
          <a:xfrm>
            <a:off x="1022400" y="1934717"/>
            <a:ext cx="63563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R236</a:t>
            </a:r>
            <a:r>
              <a:rPr sz="9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R234</a:t>
            </a:r>
            <a:r>
              <a:rPr sz="9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R232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2400" y="1538732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R238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25851" y="4055745"/>
            <a:ext cx="382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Astoria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04382" y="4055745"/>
            <a:ext cx="7086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Hell's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Kitchen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6285" y="4055745"/>
            <a:ext cx="908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Lower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Manhattan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09794" y="1633855"/>
            <a:ext cx="176148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Store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869294" y="2964307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2530" y="4825745"/>
            <a:ext cx="61575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Insights: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Each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store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contributes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roughly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33%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of</a:t>
            </a:r>
            <a:r>
              <a:rPr sz="1800" spc="1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total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revenue,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with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no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store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dominating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significantly.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balanced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distribution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suggests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70" dirty="0">
                <a:solidFill>
                  <a:srgbClr val="F1F1F1"/>
                </a:solidFill>
                <a:latin typeface="Georgia"/>
                <a:cs typeface="Georgia"/>
              </a:rPr>
              <a:t>stable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85" dirty="0">
                <a:solidFill>
                  <a:srgbClr val="F1F1F1"/>
                </a:solidFill>
                <a:latin typeface="Georgia"/>
                <a:cs typeface="Georgia"/>
              </a:rPr>
              <a:t>multi-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store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performance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and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risk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diversification.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3083" y="1362455"/>
            <a:ext cx="8841486" cy="29207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49517" y="1732914"/>
            <a:ext cx="820419" cy="625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6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Georgia"/>
                <a:cs typeface="Georgia"/>
              </a:rPr>
              <a:t>Astoria</a:t>
            </a:r>
            <a:endParaRPr sz="2000">
              <a:latin typeface="Georgia"/>
              <a:cs typeface="Georgia"/>
            </a:endParaRPr>
          </a:p>
          <a:p>
            <a:pPr algn="ctr">
              <a:lnSpc>
                <a:spcPts val="2360"/>
              </a:lnSpc>
            </a:pPr>
            <a:r>
              <a:rPr sz="2000" spc="-25" dirty="0">
                <a:solidFill>
                  <a:srgbClr val="FFFFFF"/>
                </a:solidFill>
                <a:latin typeface="Georgia"/>
                <a:cs typeface="Georgia"/>
              </a:rPr>
              <a:t>33%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1921" y="2595829"/>
            <a:ext cx="1545590" cy="626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60"/>
              </a:lnSpc>
              <a:spcBef>
                <a:spcPts val="105"/>
              </a:spcBef>
            </a:pPr>
            <a:r>
              <a:rPr sz="2000" spc="-40" dirty="0">
                <a:solidFill>
                  <a:srgbClr val="FFFFFF"/>
                </a:solidFill>
                <a:latin typeface="Georgia"/>
                <a:cs typeface="Georgia"/>
              </a:rPr>
              <a:t>Hell's</a:t>
            </a:r>
            <a:r>
              <a:rPr sz="2000" spc="-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Georgia"/>
                <a:cs typeface="Georgia"/>
              </a:rPr>
              <a:t>Kitchen</a:t>
            </a:r>
            <a:endParaRPr sz="2000">
              <a:latin typeface="Georgia"/>
              <a:cs typeface="Georgia"/>
            </a:endParaRPr>
          </a:p>
          <a:p>
            <a:pPr algn="ctr">
              <a:lnSpc>
                <a:spcPts val="2360"/>
              </a:lnSpc>
            </a:pPr>
            <a:r>
              <a:rPr sz="2000" spc="-25" dirty="0">
                <a:solidFill>
                  <a:srgbClr val="FFFFFF"/>
                </a:solidFill>
                <a:latin typeface="Georgia"/>
                <a:cs typeface="Georgia"/>
              </a:rPr>
              <a:t>34%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60"/>
              </a:lnSpc>
              <a:spcBef>
                <a:spcPts val="105"/>
              </a:spcBef>
            </a:pPr>
            <a:r>
              <a:rPr dirty="0"/>
              <a:t>Lower</a:t>
            </a:r>
            <a:r>
              <a:rPr spc="-105" dirty="0"/>
              <a:t> </a:t>
            </a:r>
            <a:r>
              <a:rPr spc="-30" dirty="0"/>
              <a:t>Manhattan</a:t>
            </a:r>
          </a:p>
          <a:p>
            <a:pPr algn="ctr">
              <a:lnSpc>
                <a:spcPts val="2360"/>
              </a:lnSpc>
            </a:pPr>
            <a:r>
              <a:rPr spc="-25" dirty="0"/>
              <a:t>33%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75657" y="973327"/>
            <a:ext cx="23514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Contribution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Store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80879" y="2574982"/>
            <a:ext cx="85090" cy="85090"/>
            <a:chOff x="10080879" y="2574982"/>
            <a:chExt cx="85090" cy="85090"/>
          </a:xfrm>
        </p:grpSpPr>
        <p:sp>
          <p:nvSpPr>
            <p:cNvPr id="11" name="object 11"/>
            <p:cNvSpPr/>
            <p:nvPr/>
          </p:nvSpPr>
          <p:spPr>
            <a:xfrm>
              <a:off x="10093579" y="2587682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378" y="0"/>
                  </a:moveTo>
                  <a:lnTo>
                    <a:pt x="0" y="0"/>
                  </a:lnTo>
                  <a:lnTo>
                    <a:pt x="0" y="59378"/>
                  </a:lnTo>
                  <a:lnTo>
                    <a:pt x="59378" y="59378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8E78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93579" y="2587682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0" y="59378"/>
                  </a:moveTo>
                  <a:lnTo>
                    <a:pt x="59378" y="59378"/>
                  </a:lnTo>
                  <a:lnTo>
                    <a:pt x="59378" y="0"/>
                  </a:lnTo>
                  <a:lnTo>
                    <a:pt x="0" y="0"/>
                  </a:lnTo>
                  <a:lnTo>
                    <a:pt x="0" y="5937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0080879" y="2781738"/>
            <a:ext cx="85090" cy="85090"/>
            <a:chOff x="10080879" y="2781738"/>
            <a:chExt cx="85090" cy="85090"/>
          </a:xfrm>
        </p:grpSpPr>
        <p:sp>
          <p:nvSpPr>
            <p:cNvPr id="14" name="object 14"/>
            <p:cNvSpPr/>
            <p:nvPr/>
          </p:nvSpPr>
          <p:spPr>
            <a:xfrm>
              <a:off x="10093579" y="2794438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378" y="0"/>
                  </a:moveTo>
                  <a:lnTo>
                    <a:pt x="0" y="0"/>
                  </a:lnTo>
                  <a:lnTo>
                    <a:pt x="0" y="59378"/>
                  </a:lnTo>
                  <a:lnTo>
                    <a:pt x="59378" y="59378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AC92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93579" y="2794438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0" y="59378"/>
                  </a:moveTo>
                  <a:lnTo>
                    <a:pt x="59378" y="59378"/>
                  </a:lnTo>
                  <a:lnTo>
                    <a:pt x="59378" y="0"/>
                  </a:lnTo>
                  <a:lnTo>
                    <a:pt x="0" y="0"/>
                  </a:lnTo>
                  <a:lnTo>
                    <a:pt x="0" y="5937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0080879" y="2988621"/>
            <a:ext cx="85090" cy="85090"/>
            <a:chOff x="10080879" y="2988621"/>
            <a:chExt cx="85090" cy="85090"/>
          </a:xfrm>
        </p:grpSpPr>
        <p:sp>
          <p:nvSpPr>
            <p:cNvPr id="17" name="object 17"/>
            <p:cNvSpPr/>
            <p:nvPr/>
          </p:nvSpPr>
          <p:spPr>
            <a:xfrm>
              <a:off x="10093579" y="3001321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378" y="0"/>
                  </a:moveTo>
                  <a:lnTo>
                    <a:pt x="0" y="0"/>
                  </a:lnTo>
                  <a:lnTo>
                    <a:pt x="0" y="59378"/>
                  </a:lnTo>
                  <a:lnTo>
                    <a:pt x="59378" y="59378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CFC2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93579" y="3001321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0" y="59378"/>
                  </a:moveTo>
                  <a:lnTo>
                    <a:pt x="59378" y="59378"/>
                  </a:lnTo>
                  <a:lnTo>
                    <a:pt x="59378" y="0"/>
                  </a:lnTo>
                  <a:lnTo>
                    <a:pt x="0" y="0"/>
                  </a:lnTo>
                  <a:lnTo>
                    <a:pt x="0" y="5937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166350" y="2456668"/>
            <a:ext cx="908050" cy="6457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Astoria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Hell's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Kitchen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Lower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Manhattan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100307" y="6100149"/>
            <a:ext cx="90170" cy="1720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00" spc="-50" dirty="0">
                <a:solidFill>
                  <a:srgbClr val="F1F1F1"/>
                </a:solidFill>
                <a:latin typeface="Georgia"/>
                <a:cs typeface="Georgia"/>
              </a:rPr>
              <a:t>6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13732" y="419087"/>
            <a:ext cx="2566035" cy="504190"/>
            <a:chOff x="4713732" y="419087"/>
            <a:chExt cx="2566035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3732" y="419087"/>
              <a:ext cx="2565654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9640" y="444995"/>
              <a:ext cx="2513838" cy="444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3356" y="466344"/>
              <a:ext cx="2501519" cy="43129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4721364"/>
            <a:ext cx="6551295" cy="1344930"/>
            <a:chOff x="867155" y="4721364"/>
            <a:chExt cx="6551295" cy="134493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4741151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4722888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4721364"/>
              <a:ext cx="5185409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4995684"/>
              <a:ext cx="4322826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699" y="5269991"/>
              <a:ext cx="6389370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99" y="5544311"/>
              <a:ext cx="1267206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81200" y="5545835"/>
              <a:ext cx="2081022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7516" y="5544311"/>
              <a:ext cx="378701" cy="52043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92530" y="4781550"/>
            <a:ext cx="62153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245745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morning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period 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generates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the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highest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revenue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compared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afternoon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and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evening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sales.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indicates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peak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customer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activity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during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early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hours,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likely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spc="-70" dirty="0">
                <a:solidFill>
                  <a:srgbClr val="F1F1F1"/>
                </a:solidFill>
                <a:latin typeface="Georgia"/>
                <a:cs typeface="Georgia"/>
              </a:rPr>
              <a:t>driven</a:t>
            </a:r>
            <a:r>
              <a:rPr sz="1800" spc="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by</a:t>
            </a:r>
            <a:r>
              <a:rPr sz="1800" spc="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breakfast</a:t>
            </a:r>
            <a:r>
              <a:rPr sz="1800" b="1" spc="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1F1F1"/>
                </a:solidFill>
                <a:latin typeface="Calibri"/>
                <a:cs typeface="Calibri"/>
              </a:rPr>
              <a:t>demand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708023" y="1697735"/>
            <a:ext cx="8782685" cy="0"/>
          </a:xfrm>
          <a:custGeom>
            <a:avLst/>
            <a:gdLst/>
            <a:ahLst/>
            <a:cxnLst/>
            <a:rect l="l" t="t" r="r" b="b"/>
            <a:pathLst>
              <a:path w="8782685">
                <a:moveTo>
                  <a:pt x="0" y="0"/>
                </a:moveTo>
                <a:lnTo>
                  <a:pt x="8782304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08023" y="1403096"/>
            <a:ext cx="8782685" cy="0"/>
          </a:xfrm>
          <a:custGeom>
            <a:avLst/>
            <a:gdLst/>
            <a:ahLst/>
            <a:cxnLst/>
            <a:rect l="l" t="t" r="r" b="b"/>
            <a:pathLst>
              <a:path w="8782685">
                <a:moveTo>
                  <a:pt x="0" y="0"/>
                </a:moveTo>
                <a:lnTo>
                  <a:pt x="8782304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708023" y="1761553"/>
          <a:ext cx="8858885" cy="2283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2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984300" y="3076702"/>
            <a:ext cx="636270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R150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R="5715" algn="r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R100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R50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4300" y="2782570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R200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4300" y="1310716"/>
            <a:ext cx="635635" cy="134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R450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R400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R350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R300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R250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56738" y="4100576"/>
            <a:ext cx="629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01.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Morning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48273" y="4100576"/>
            <a:ext cx="7023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02.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Afternoon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26169" y="4100576"/>
            <a:ext cx="602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03.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Evening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79872" y="1012951"/>
            <a:ext cx="1912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Time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400" spc="1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Day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688319" y="277005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761344" y="2707894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73167" y="583679"/>
            <a:ext cx="2634615" cy="504190"/>
            <a:chOff x="4773167" y="583679"/>
            <a:chExt cx="2634615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3167" y="583679"/>
              <a:ext cx="2634234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9075" y="609612"/>
              <a:ext cx="2580894" cy="4427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2918" y="630681"/>
              <a:ext cx="2569210" cy="43091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4869192"/>
            <a:ext cx="6755130" cy="1343660"/>
            <a:chOff x="867155" y="4869192"/>
            <a:chExt cx="6755130" cy="13436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4888979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4870716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4869192"/>
              <a:ext cx="5159502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5143500"/>
              <a:ext cx="3292602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6595" y="5143500"/>
              <a:ext cx="1255014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6903" y="5143500"/>
              <a:ext cx="378701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8699" y="5417820"/>
              <a:ext cx="6593585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699" y="5692140"/>
              <a:ext cx="2266950" cy="52043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92530" y="4928996"/>
            <a:ext cx="6417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471805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differs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between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weekdays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weekends,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reflecting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changes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in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customer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behaviour.</a:t>
            </a:r>
            <a:endParaRPr sz="1800">
              <a:latin typeface="Georgia"/>
              <a:cs typeface="Georgia"/>
            </a:endParaRPr>
          </a:p>
          <a:p>
            <a:pPr marL="184785" marR="5080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highlights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impact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of</a:t>
            </a:r>
            <a:r>
              <a:rPr sz="1800" spc="1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work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schedules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leisure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time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on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purchasing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patterns.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3100" y="1441703"/>
            <a:ext cx="8600694" cy="290245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00099" y="3282441"/>
            <a:ext cx="57785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R97</a:t>
            </a: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R96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R95</a:t>
            </a: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R94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00099" y="2964941"/>
            <a:ext cx="577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R98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1856" y="1694179"/>
            <a:ext cx="635635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R102</a:t>
            </a:r>
            <a:r>
              <a:rPr sz="900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R101</a:t>
            </a:r>
            <a:r>
              <a:rPr sz="9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R100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00">
              <a:latin typeface="Georgia"/>
              <a:cs typeface="Georgia"/>
            </a:endParaRPr>
          </a:p>
          <a:p>
            <a:pPr marL="70485">
              <a:lnSpc>
                <a:spcPct val="100000"/>
              </a:lnSpc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R99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40939" y="4373371"/>
            <a:ext cx="2152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Sun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0257" y="4373371"/>
            <a:ext cx="260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Mon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65675" y="4373371"/>
            <a:ext cx="216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Tue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06770" y="4373371"/>
            <a:ext cx="2597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Wed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85456" y="4373371"/>
            <a:ext cx="2273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Thu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76970" y="4373371"/>
            <a:ext cx="1689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Fri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34576" y="4373371"/>
            <a:ext cx="1790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Sat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12207" y="1052321"/>
            <a:ext cx="19386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Day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400" spc="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Week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091418" y="2937186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164569" y="2875279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0040" y="544055"/>
            <a:ext cx="3491229" cy="504190"/>
            <a:chOff x="4130040" y="544055"/>
            <a:chExt cx="3491229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0040" y="544055"/>
              <a:ext cx="3490721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5948" y="569963"/>
              <a:ext cx="3437382" cy="444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0299" y="591439"/>
              <a:ext cx="3424554" cy="43078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5062740"/>
            <a:ext cx="6813550" cy="1343660"/>
            <a:chOff x="867155" y="5062740"/>
            <a:chExt cx="6813550" cy="13436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5082527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5064264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5062740"/>
              <a:ext cx="5631941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5337047"/>
              <a:ext cx="3975354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699" y="5611367"/>
              <a:ext cx="6651498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99" y="5885687"/>
              <a:ext cx="2103882" cy="52043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92530" y="5123179"/>
            <a:ext cx="64522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34925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3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Coffee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Tea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categories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generate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highest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revenue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compared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other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product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categories.</a:t>
            </a:r>
            <a:endParaRPr sz="1800">
              <a:latin typeface="Georgia"/>
              <a:cs typeface="Georgia"/>
            </a:endParaRPr>
          </a:p>
          <a:p>
            <a:pPr marL="184785" marR="5080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indicates that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core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beverage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products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are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the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main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70" dirty="0">
                <a:solidFill>
                  <a:srgbClr val="F1F1F1"/>
                </a:solidFill>
                <a:latin typeface="Georgia"/>
                <a:cs typeface="Georgia"/>
              </a:rPr>
              <a:t>drivers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of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sales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performance.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000615" y="6090615"/>
            <a:ext cx="342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1F1F1"/>
                </a:solidFill>
                <a:latin typeface="Georgia"/>
                <a:cs typeface="Georgia"/>
              </a:rPr>
              <a:t>20XX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026140" y="6060947"/>
            <a:ext cx="244601" cy="29489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100307" y="6090615"/>
            <a:ext cx="90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1F1F1"/>
                </a:solidFill>
                <a:latin typeface="Georgia"/>
                <a:cs typeface="Georgia"/>
              </a:rPr>
              <a:t>9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59084" y="1511300"/>
            <a:ext cx="0" cy="3152140"/>
          </a:xfrm>
          <a:custGeom>
            <a:avLst/>
            <a:gdLst/>
            <a:ahLst/>
            <a:cxnLst/>
            <a:rect l="l" t="t" r="r" b="b"/>
            <a:pathLst>
              <a:path h="3152140">
                <a:moveTo>
                  <a:pt x="0" y="0"/>
                </a:moveTo>
                <a:lnTo>
                  <a:pt x="0" y="315163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079053" y="1511300"/>
            <a:ext cx="7540625" cy="3152140"/>
            <a:chOff x="2079053" y="1511300"/>
            <a:chExt cx="7540625" cy="3152140"/>
          </a:xfrm>
        </p:grpSpPr>
        <p:sp>
          <p:nvSpPr>
            <p:cNvPr id="20" name="object 20"/>
            <p:cNvSpPr/>
            <p:nvPr/>
          </p:nvSpPr>
          <p:spPr>
            <a:xfrm>
              <a:off x="3479291" y="1511300"/>
              <a:ext cx="5584190" cy="3152140"/>
            </a:xfrm>
            <a:custGeom>
              <a:avLst/>
              <a:gdLst/>
              <a:ahLst/>
              <a:cxnLst/>
              <a:rect l="l" t="t" r="r" b="b"/>
              <a:pathLst>
                <a:path w="5584190" h="3152140">
                  <a:moveTo>
                    <a:pt x="0" y="2688844"/>
                  </a:moveTo>
                  <a:lnTo>
                    <a:pt x="0" y="2914396"/>
                  </a:lnTo>
                </a:path>
                <a:path w="5584190" h="3152140">
                  <a:moveTo>
                    <a:pt x="0" y="0"/>
                  </a:moveTo>
                  <a:lnTo>
                    <a:pt x="0" y="1864360"/>
                  </a:lnTo>
                </a:path>
                <a:path w="5584190" h="3152140">
                  <a:moveTo>
                    <a:pt x="0" y="1987803"/>
                  </a:moveTo>
                  <a:lnTo>
                    <a:pt x="0" y="2213356"/>
                  </a:lnTo>
                </a:path>
                <a:path w="5584190" h="3152140">
                  <a:moveTo>
                    <a:pt x="0" y="2338324"/>
                  </a:moveTo>
                  <a:lnTo>
                    <a:pt x="0" y="2563876"/>
                  </a:lnTo>
                </a:path>
                <a:path w="5584190" h="3152140">
                  <a:moveTo>
                    <a:pt x="0" y="3039364"/>
                  </a:moveTo>
                  <a:lnTo>
                    <a:pt x="0" y="3151632"/>
                  </a:lnTo>
                </a:path>
                <a:path w="5584190" h="3152140">
                  <a:moveTo>
                    <a:pt x="1395984" y="3039364"/>
                  </a:moveTo>
                  <a:lnTo>
                    <a:pt x="1395984" y="3151632"/>
                  </a:lnTo>
                </a:path>
                <a:path w="5584190" h="3152140">
                  <a:moveTo>
                    <a:pt x="1395984" y="2688844"/>
                  </a:moveTo>
                  <a:lnTo>
                    <a:pt x="1395984" y="2914396"/>
                  </a:lnTo>
                </a:path>
                <a:path w="5584190" h="3152140">
                  <a:moveTo>
                    <a:pt x="1395984" y="0"/>
                  </a:moveTo>
                  <a:lnTo>
                    <a:pt x="1395984" y="2563876"/>
                  </a:lnTo>
                </a:path>
                <a:path w="5584190" h="3152140">
                  <a:moveTo>
                    <a:pt x="2791968" y="3039364"/>
                  </a:moveTo>
                  <a:lnTo>
                    <a:pt x="2791968" y="3151632"/>
                  </a:lnTo>
                </a:path>
                <a:path w="5584190" h="3152140">
                  <a:moveTo>
                    <a:pt x="2791968" y="2688844"/>
                  </a:moveTo>
                  <a:lnTo>
                    <a:pt x="2791968" y="2914396"/>
                  </a:lnTo>
                </a:path>
                <a:path w="5584190" h="3152140">
                  <a:moveTo>
                    <a:pt x="2791968" y="0"/>
                  </a:moveTo>
                  <a:lnTo>
                    <a:pt x="2791968" y="2563876"/>
                  </a:lnTo>
                </a:path>
                <a:path w="5584190" h="3152140">
                  <a:moveTo>
                    <a:pt x="4187952" y="3039364"/>
                  </a:moveTo>
                  <a:lnTo>
                    <a:pt x="4187952" y="3151632"/>
                  </a:lnTo>
                </a:path>
                <a:path w="5584190" h="3152140">
                  <a:moveTo>
                    <a:pt x="4187952" y="0"/>
                  </a:moveTo>
                  <a:lnTo>
                    <a:pt x="4187952" y="2914396"/>
                  </a:lnTo>
                </a:path>
                <a:path w="5584190" h="3152140">
                  <a:moveTo>
                    <a:pt x="5583936" y="3039364"/>
                  </a:moveTo>
                  <a:lnTo>
                    <a:pt x="5583936" y="3151632"/>
                  </a:lnTo>
                </a:path>
                <a:path w="5584190" h="3152140">
                  <a:moveTo>
                    <a:pt x="5583936" y="0"/>
                  </a:moveTo>
                  <a:lnTo>
                    <a:pt x="5583936" y="2914396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3816" y="1624583"/>
              <a:ext cx="7536180" cy="2926080"/>
            </a:xfrm>
            <a:custGeom>
              <a:avLst/>
              <a:gdLst/>
              <a:ahLst/>
              <a:cxnLst/>
              <a:rect l="l" t="t" r="r" b="b"/>
              <a:pathLst>
                <a:path w="7536180" h="2926079">
                  <a:moveTo>
                    <a:pt x="122936" y="0"/>
                  </a:moveTo>
                  <a:lnTo>
                    <a:pt x="0" y="0"/>
                  </a:lnTo>
                  <a:lnTo>
                    <a:pt x="0" y="123444"/>
                  </a:lnTo>
                  <a:lnTo>
                    <a:pt x="122936" y="123444"/>
                  </a:lnTo>
                  <a:lnTo>
                    <a:pt x="122936" y="0"/>
                  </a:lnTo>
                  <a:close/>
                </a:path>
                <a:path w="7536180" h="2926079">
                  <a:moveTo>
                    <a:pt x="234188" y="350520"/>
                  </a:moveTo>
                  <a:lnTo>
                    <a:pt x="0" y="350520"/>
                  </a:lnTo>
                  <a:lnTo>
                    <a:pt x="0" y="473964"/>
                  </a:lnTo>
                  <a:lnTo>
                    <a:pt x="234188" y="473964"/>
                  </a:lnTo>
                  <a:lnTo>
                    <a:pt x="234188" y="350520"/>
                  </a:lnTo>
                  <a:close/>
                </a:path>
                <a:path w="7536180" h="2926079">
                  <a:moveTo>
                    <a:pt x="313436" y="699516"/>
                  </a:moveTo>
                  <a:lnTo>
                    <a:pt x="0" y="699516"/>
                  </a:lnTo>
                  <a:lnTo>
                    <a:pt x="0" y="824484"/>
                  </a:lnTo>
                  <a:lnTo>
                    <a:pt x="313436" y="824484"/>
                  </a:lnTo>
                  <a:lnTo>
                    <a:pt x="313436" y="699516"/>
                  </a:lnTo>
                  <a:close/>
                </a:path>
                <a:path w="7536180" h="2926079">
                  <a:moveTo>
                    <a:pt x="380492" y="1050036"/>
                  </a:moveTo>
                  <a:lnTo>
                    <a:pt x="0" y="1050036"/>
                  </a:lnTo>
                  <a:lnTo>
                    <a:pt x="0" y="1175004"/>
                  </a:lnTo>
                  <a:lnTo>
                    <a:pt x="380492" y="1175004"/>
                  </a:lnTo>
                  <a:lnTo>
                    <a:pt x="380492" y="1050036"/>
                  </a:lnTo>
                  <a:close/>
                </a:path>
                <a:path w="7536180" h="2926079">
                  <a:moveTo>
                    <a:pt x="1119632" y="1400556"/>
                  </a:moveTo>
                  <a:lnTo>
                    <a:pt x="0" y="1400556"/>
                  </a:lnTo>
                  <a:lnTo>
                    <a:pt x="0" y="1524000"/>
                  </a:lnTo>
                  <a:lnTo>
                    <a:pt x="1119632" y="1524000"/>
                  </a:lnTo>
                  <a:lnTo>
                    <a:pt x="1119632" y="1400556"/>
                  </a:lnTo>
                  <a:close/>
                </a:path>
                <a:path w="7536180" h="2926079">
                  <a:moveTo>
                    <a:pt x="2021840" y="1751076"/>
                  </a:moveTo>
                  <a:lnTo>
                    <a:pt x="0" y="1751076"/>
                  </a:lnTo>
                  <a:lnTo>
                    <a:pt x="0" y="1874520"/>
                  </a:lnTo>
                  <a:lnTo>
                    <a:pt x="2021840" y="1874520"/>
                  </a:lnTo>
                  <a:lnTo>
                    <a:pt x="2021840" y="1751076"/>
                  </a:lnTo>
                  <a:close/>
                </a:path>
                <a:path w="7536180" h="2926079">
                  <a:moveTo>
                    <a:pt x="2297684" y="2100072"/>
                  </a:moveTo>
                  <a:lnTo>
                    <a:pt x="0" y="2100072"/>
                  </a:lnTo>
                  <a:lnTo>
                    <a:pt x="0" y="2225040"/>
                  </a:lnTo>
                  <a:lnTo>
                    <a:pt x="2297684" y="2225040"/>
                  </a:lnTo>
                  <a:lnTo>
                    <a:pt x="2297684" y="2100072"/>
                  </a:lnTo>
                  <a:close/>
                </a:path>
                <a:path w="7536180" h="2926079">
                  <a:moveTo>
                    <a:pt x="5482844" y="2450592"/>
                  </a:moveTo>
                  <a:lnTo>
                    <a:pt x="0" y="2450592"/>
                  </a:lnTo>
                  <a:lnTo>
                    <a:pt x="0" y="2575560"/>
                  </a:lnTo>
                  <a:lnTo>
                    <a:pt x="5482844" y="2575560"/>
                  </a:lnTo>
                  <a:lnTo>
                    <a:pt x="5482844" y="2450592"/>
                  </a:lnTo>
                  <a:close/>
                </a:path>
                <a:path w="7536180" h="2926079">
                  <a:moveTo>
                    <a:pt x="7535672" y="2801112"/>
                  </a:moveTo>
                  <a:lnTo>
                    <a:pt x="0" y="2801112"/>
                  </a:lnTo>
                  <a:lnTo>
                    <a:pt x="0" y="2926080"/>
                  </a:lnTo>
                  <a:lnTo>
                    <a:pt x="7535672" y="2926080"/>
                  </a:lnTo>
                  <a:lnTo>
                    <a:pt x="7535672" y="2801112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83816" y="1511300"/>
              <a:ext cx="0" cy="3152140"/>
            </a:xfrm>
            <a:custGeom>
              <a:avLst/>
              <a:gdLst/>
              <a:ahLst/>
              <a:cxnLst/>
              <a:rect l="l" t="t" r="r" b="b"/>
              <a:pathLst>
                <a:path h="3152140">
                  <a:moveTo>
                    <a:pt x="0" y="315163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01139" y="4712589"/>
            <a:ext cx="1663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R0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66059" y="4712589"/>
            <a:ext cx="428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Georgia"/>
                <a:cs typeface="Georgia"/>
              </a:rPr>
              <a:t>R50 000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2705" y="4712589"/>
            <a:ext cx="4864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5" dirty="0">
                <a:solidFill>
                  <a:srgbClr val="FFFFFF"/>
                </a:solidFill>
                <a:latin typeface="Georgia"/>
                <a:cs typeface="Georgia"/>
              </a:rPr>
              <a:t>R100 000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29071" y="4712589"/>
            <a:ext cx="4864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R150 000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5055" y="4712589"/>
            <a:ext cx="4864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R200 000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21039" y="4712589"/>
            <a:ext cx="4864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Georgia"/>
                <a:cs typeface="Georgia"/>
              </a:rPr>
              <a:t>R250 000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17022" y="4712589"/>
            <a:ext cx="48640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R300 000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8684" y="3345941"/>
            <a:ext cx="988060" cy="121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Drinking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00">
              <a:latin typeface="Georgia"/>
              <a:cs typeface="Georgia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Bakery</a:t>
            </a:r>
            <a:endParaRPr sz="900">
              <a:latin typeface="Georgia"/>
              <a:cs typeface="Georgia"/>
            </a:endParaRPr>
          </a:p>
          <a:p>
            <a:pPr marL="655955" marR="5080" indent="134620">
              <a:lnSpc>
                <a:spcPct val="255300"/>
              </a:lnSpc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Tea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Coffee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49502" y="2995421"/>
            <a:ext cx="6451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Coffee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beans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84300" y="1594484"/>
            <a:ext cx="1010919" cy="121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Packaged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endParaRPr sz="900">
              <a:latin typeface="Georgia"/>
              <a:cs typeface="Georgia"/>
            </a:endParaRPr>
          </a:p>
          <a:p>
            <a:pPr marL="490855" marR="5080" indent="81915" algn="r">
              <a:lnSpc>
                <a:spcPct val="255300"/>
              </a:lnSpc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Flavours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Loose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Tea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Branded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01005" y="1121156"/>
            <a:ext cx="22707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40" dirty="0">
                <a:solidFill>
                  <a:srgbClr val="FFFFFF"/>
                </a:solidFill>
                <a:latin typeface="Georgia"/>
                <a:cs typeface="Georgia"/>
              </a:rPr>
              <a:t>Revenue</a:t>
            </a:r>
            <a:r>
              <a:rPr sz="1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 Product</a:t>
            </a:r>
            <a:r>
              <a:rPr sz="14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Category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887582" y="313009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960734" y="3068192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51276" y="765048"/>
            <a:ext cx="5464810" cy="554355"/>
            <a:chOff x="3351276" y="765048"/>
            <a:chExt cx="5464810" cy="554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1276" y="765048"/>
              <a:ext cx="5464302" cy="5539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7184" y="803160"/>
              <a:ext cx="829817" cy="4838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3186" y="827405"/>
              <a:ext cx="813688" cy="467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1876" y="790968"/>
              <a:ext cx="4447794" cy="4930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58386" y="814197"/>
              <a:ext cx="4431665" cy="47777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67155" y="5230367"/>
            <a:ext cx="6770370" cy="1344930"/>
            <a:chOff x="867155" y="5230367"/>
            <a:chExt cx="6770370" cy="134493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155" y="5250179"/>
              <a:ext cx="497573" cy="4854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9179" y="5231891"/>
              <a:ext cx="1181862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91867" y="5230367"/>
              <a:ext cx="1067562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4723" y="5230367"/>
              <a:ext cx="381762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1779" y="5230367"/>
              <a:ext cx="4650486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699" y="5504687"/>
              <a:ext cx="4301490" cy="52043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8699" y="5779007"/>
              <a:ext cx="1882902" cy="5204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96895" y="5780531"/>
              <a:ext cx="5040630" cy="5204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8699" y="6054851"/>
              <a:ext cx="1579626" cy="5204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93619" y="6053327"/>
              <a:ext cx="378701" cy="52043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92530" y="5290820"/>
            <a:ext cx="6431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177165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90" dirty="0">
                <a:solidFill>
                  <a:srgbClr val="F1F1F1"/>
                </a:solidFill>
                <a:latin typeface="Georgia"/>
                <a:cs typeface="Georgia"/>
              </a:rPr>
              <a:t>top-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performing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products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contribute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a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large</a:t>
            </a:r>
            <a:r>
              <a:rPr sz="1800" spc="-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share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of</a:t>
            </a:r>
            <a:r>
              <a:rPr sz="1800" spc="1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total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75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compared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other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items.</a:t>
            </a:r>
            <a:endParaRPr sz="1800">
              <a:latin typeface="Georgia"/>
              <a:cs typeface="Georgia"/>
            </a:endParaRPr>
          </a:p>
          <a:p>
            <a:pPr marL="184785" marR="5080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shows</a:t>
            </a:r>
            <a:r>
              <a:rPr sz="1800" spc="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that</a:t>
            </a:r>
            <a:r>
              <a:rPr sz="1800" spc="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customer</a:t>
            </a:r>
            <a:r>
              <a:rPr sz="1800" b="1" spc="2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demand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65" dirty="0">
                <a:solidFill>
                  <a:srgbClr val="F1F1F1"/>
                </a:solidFill>
                <a:latin typeface="Calibri"/>
                <a:cs typeface="Calibri"/>
              </a:rPr>
              <a:t>is</a:t>
            </a:r>
            <a:r>
              <a:rPr sz="1800" b="1" spc="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concentrated</a:t>
            </a:r>
            <a:r>
              <a:rPr sz="1800" b="1" spc="13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among</a:t>
            </a:r>
            <a:r>
              <a:rPr sz="1800" b="1" spc="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a</a:t>
            </a:r>
            <a:r>
              <a:rPr sz="1800" b="1" spc="9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1F1F1"/>
                </a:solidFill>
                <a:latin typeface="Calibri"/>
                <a:cs typeface="Calibri"/>
              </a:rPr>
              <a:t>few </a:t>
            </a:r>
            <a:r>
              <a:rPr sz="1800" b="1" dirty="0">
                <a:solidFill>
                  <a:srgbClr val="F1F1F1"/>
                </a:solidFill>
                <a:latin typeface="Calibri"/>
                <a:cs typeface="Calibri"/>
              </a:rPr>
              <a:t>key</a:t>
            </a:r>
            <a:r>
              <a:rPr sz="1800" b="1" spc="1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1F1F1"/>
                </a:solidFill>
                <a:latin typeface="Calibri"/>
                <a:cs typeface="Calibri"/>
              </a:rPr>
              <a:t>products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000615" y="6090615"/>
            <a:ext cx="342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1F1F1"/>
                </a:solidFill>
                <a:latin typeface="Georgia"/>
                <a:cs typeface="Georgia"/>
              </a:rPr>
              <a:t>20XX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1036045" y="60906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1F1F1"/>
                </a:solidFill>
                <a:latin typeface="Georgia"/>
                <a:cs typeface="Georgia"/>
              </a:rPr>
              <a:t>10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01013" y="2044192"/>
            <a:ext cx="9189085" cy="0"/>
          </a:xfrm>
          <a:custGeom>
            <a:avLst/>
            <a:gdLst/>
            <a:ahLst/>
            <a:cxnLst/>
            <a:rect l="l" t="t" r="r" b="b"/>
            <a:pathLst>
              <a:path w="9189085">
                <a:moveTo>
                  <a:pt x="0" y="0"/>
                </a:moveTo>
                <a:lnTo>
                  <a:pt x="9188577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501013" y="2468879"/>
            <a:ext cx="9189085" cy="2341880"/>
            <a:chOff x="1501013" y="2468879"/>
            <a:chExt cx="9189085" cy="2341880"/>
          </a:xfrm>
        </p:grpSpPr>
        <p:sp>
          <p:nvSpPr>
            <p:cNvPr id="26" name="object 26"/>
            <p:cNvSpPr/>
            <p:nvPr/>
          </p:nvSpPr>
          <p:spPr>
            <a:xfrm>
              <a:off x="1501013" y="2596895"/>
              <a:ext cx="9189085" cy="2208530"/>
            </a:xfrm>
            <a:custGeom>
              <a:avLst/>
              <a:gdLst/>
              <a:ahLst/>
              <a:cxnLst/>
              <a:rect l="l" t="t" r="r" b="b"/>
              <a:pathLst>
                <a:path w="9189085" h="2208529">
                  <a:moveTo>
                    <a:pt x="0" y="2208529"/>
                  </a:moveTo>
                  <a:lnTo>
                    <a:pt x="9188577" y="2208529"/>
                  </a:lnTo>
                </a:path>
                <a:path w="9189085" h="2208529">
                  <a:moveTo>
                    <a:pt x="0" y="1656587"/>
                  </a:moveTo>
                  <a:lnTo>
                    <a:pt x="275970" y="1656587"/>
                  </a:lnTo>
                </a:path>
                <a:path w="9189085" h="2208529">
                  <a:moveTo>
                    <a:pt x="8912479" y="1656587"/>
                  </a:moveTo>
                  <a:lnTo>
                    <a:pt x="9188577" y="1656587"/>
                  </a:lnTo>
                </a:path>
                <a:path w="9189085" h="2208529">
                  <a:moveTo>
                    <a:pt x="4319143" y="1656587"/>
                  </a:moveTo>
                  <a:lnTo>
                    <a:pt x="4869307" y="1656587"/>
                  </a:lnTo>
                </a:path>
                <a:path w="9189085" h="2208529">
                  <a:moveTo>
                    <a:pt x="1562227" y="1656587"/>
                  </a:moveTo>
                  <a:lnTo>
                    <a:pt x="2113915" y="1656587"/>
                  </a:lnTo>
                </a:path>
                <a:path w="9189085" h="2208529">
                  <a:moveTo>
                    <a:pt x="643255" y="1656587"/>
                  </a:moveTo>
                  <a:lnTo>
                    <a:pt x="1194943" y="1656587"/>
                  </a:lnTo>
                </a:path>
                <a:path w="9189085" h="2208529">
                  <a:moveTo>
                    <a:pt x="7074534" y="1656587"/>
                  </a:moveTo>
                  <a:lnTo>
                    <a:pt x="7626223" y="1656587"/>
                  </a:lnTo>
                </a:path>
                <a:path w="9189085" h="2208529">
                  <a:moveTo>
                    <a:pt x="6157087" y="1656587"/>
                  </a:moveTo>
                  <a:lnTo>
                    <a:pt x="6707251" y="1656587"/>
                  </a:lnTo>
                </a:path>
                <a:path w="9189085" h="2208529">
                  <a:moveTo>
                    <a:pt x="7993507" y="1656587"/>
                  </a:moveTo>
                  <a:lnTo>
                    <a:pt x="8545194" y="1656587"/>
                  </a:lnTo>
                </a:path>
                <a:path w="9189085" h="2208529">
                  <a:moveTo>
                    <a:pt x="3400171" y="1656587"/>
                  </a:moveTo>
                  <a:lnTo>
                    <a:pt x="3951859" y="1656587"/>
                  </a:lnTo>
                </a:path>
                <a:path w="9189085" h="2208529">
                  <a:moveTo>
                    <a:pt x="2481199" y="1656587"/>
                  </a:moveTo>
                  <a:lnTo>
                    <a:pt x="3032887" y="1656587"/>
                  </a:lnTo>
                </a:path>
                <a:path w="9189085" h="2208529">
                  <a:moveTo>
                    <a:pt x="5238115" y="1656587"/>
                  </a:moveTo>
                  <a:lnTo>
                    <a:pt x="5788279" y="1656587"/>
                  </a:lnTo>
                </a:path>
                <a:path w="9189085" h="2208529">
                  <a:moveTo>
                    <a:pt x="7074534" y="1103376"/>
                  </a:moveTo>
                  <a:lnTo>
                    <a:pt x="7626223" y="1103376"/>
                  </a:lnTo>
                </a:path>
                <a:path w="9189085" h="2208529">
                  <a:moveTo>
                    <a:pt x="643255" y="1103376"/>
                  </a:moveTo>
                  <a:lnTo>
                    <a:pt x="1194943" y="1103376"/>
                  </a:lnTo>
                </a:path>
                <a:path w="9189085" h="2208529">
                  <a:moveTo>
                    <a:pt x="4319143" y="1103376"/>
                  </a:moveTo>
                  <a:lnTo>
                    <a:pt x="4869307" y="1103376"/>
                  </a:lnTo>
                </a:path>
                <a:path w="9189085" h="2208529">
                  <a:moveTo>
                    <a:pt x="0" y="1103376"/>
                  </a:moveTo>
                  <a:lnTo>
                    <a:pt x="275970" y="1103376"/>
                  </a:lnTo>
                </a:path>
                <a:path w="9189085" h="2208529">
                  <a:moveTo>
                    <a:pt x="7993507" y="1103376"/>
                  </a:moveTo>
                  <a:lnTo>
                    <a:pt x="8545194" y="1103376"/>
                  </a:lnTo>
                </a:path>
                <a:path w="9189085" h="2208529">
                  <a:moveTo>
                    <a:pt x="6157087" y="1103376"/>
                  </a:moveTo>
                  <a:lnTo>
                    <a:pt x="6707251" y="1103376"/>
                  </a:lnTo>
                </a:path>
                <a:path w="9189085" h="2208529">
                  <a:moveTo>
                    <a:pt x="1562227" y="1103376"/>
                  </a:moveTo>
                  <a:lnTo>
                    <a:pt x="2113915" y="1103376"/>
                  </a:lnTo>
                </a:path>
                <a:path w="9189085" h="2208529">
                  <a:moveTo>
                    <a:pt x="2481199" y="1103376"/>
                  </a:moveTo>
                  <a:lnTo>
                    <a:pt x="3032887" y="1103376"/>
                  </a:lnTo>
                </a:path>
                <a:path w="9189085" h="2208529">
                  <a:moveTo>
                    <a:pt x="5238115" y="1103376"/>
                  </a:moveTo>
                  <a:lnTo>
                    <a:pt x="5788279" y="1103376"/>
                  </a:lnTo>
                </a:path>
                <a:path w="9189085" h="2208529">
                  <a:moveTo>
                    <a:pt x="3400171" y="1103376"/>
                  </a:moveTo>
                  <a:lnTo>
                    <a:pt x="3951859" y="1103376"/>
                  </a:lnTo>
                </a:path>
                <a:path w="9189085" h="2208529">
                  <a:moveTo>
                    <a:pt x="8912479" y="1103376"/>
                  </a:moveTo>
                  <a:lnTo>
                    <a:pt x="9188577" y="1103376"/>
                  </a:lnTo>
                </a:path>
                <a:path w="9189085" h="2208529">
                  <a:moveTo>
                    <a:pt x="8912479" y="551688"/>
                  </a:moveTo>
                  <a:lnTo>
                    <a:pt x="9188577" y="551688"/>
                  </a:lnTo>
                </a:path>
                <a:path w="9189085" h="2208529">
                  <a:moveTo>
                    <a:pt x="1562227" y="551688"/>
                  </a:moveTo>
                  <a:lnTo>
                    <a:pt x="2113915" y="551688"/>
                  </a:lnTo>
                </a:path>
                <a:path w="9189085" h="2208529">
                  <a:moveTo>
                    <a:pt x="3400171" y="551688"/>
                  </a:moveTo>
                  <a:lnTo>
                    <a:pt x="3951859" y="551688"/>
                  </a:lnTo>
                </a:path>
                <a:path w="9189085" h="2208529">
                  <a:moveTo>
                    <a:pt x="5238115" y="551688"/>
                  </a:moveTo>
                  <a:lnTo>
                    <a:pt x="5788279" y="551688"/>
                  </a:lnTo>
                </a:path>
                <a:path w="9189085" h="2208529">
                  <a:moveTo>
                    <a:pt x="7993507" y="551688"/>
                  </a:moveTo>
                  <a:lnTo>
                    <a:pt x="8545194" y="551688"/>
                  </a:lnTo>
                </a:path>
                <a:path w="9189085" h="2208529">
                  <a:moveTo>
                    <a:pt x="6157087" y="551688"/>
                  </a:moveTo>
                  <a:lnTo>
                    <a:pt x="6707251" y="551688"/>
                  </a:lnTo>
                </a:path>
                <a:path w="9189085" h="2208529">
                  <a:moveTo>
                    <a:pt x="7074534" y="551688"/>
                  </a:moveTo>
                  <a:lnTo>
                    <a:pt x="7626223" y="551688"/>
                  </a:lnTo>
                </a:path>
                <a:path w="9189085" h="2208529">
                  <a:moveTo>
                    <a:pt x="643255" y="551688"/>
                  </a:moveTo>
                  <a:lnTo>
                    <a:pt x="1194943" y="551688"/>
                  </a:lnTo>
                </a:path>
                <a:path w="9189085" h="2208529">
                  <a:moveTo>
                    <a:pt x="2481199" y="551688"/>
                  </a:moveTo>
                  <a:lnTo>
                    <a:pt x="3032887" y="551688"/>
                  </a:lnTo>
                </a:path>
                <a:path w="9189085" h="2208529">
                  <a:moveTo>
                    <a:pt x="4319143" y="551688"/>
                  </a:moveTo>
                  <a:lnTo>
                    <a:pt x="4869307" y="551688"/>
                  </a:lnTo>
                </a:path>
                <a:path w="9189085" h="2208529">
                  <a:moveTo>
                    <a:pt x="0" y="551688"/>
                  </a:moveTo>
                  <a:lnTo>
                    <a:pt x="275970" y="551688"/>
                  </a:lnTo>
                </a:path>
                <a:path w="9189085" h="2208529">
                  <a:moveTo>
                    <a:pt x="0" y="0"/>
                  </a:moveTo>
                  <a:lnTo>
                    <a:pt x="275970" y="0"/>
                  </a:lnTo>
                </a:path>
                <a:path w="9189085" h="2208529">
                  <a:moveTo>
                    <a:pt x="643255" y="0"/>
                  </a:moveTo>
                  <a:lnTo>
                    <a:pt x="1194943" y="0"/>
                  </a:lnTo>
                </a:path>
                <a:path w="9189085" h="2208529">
                  <a:moveTo>
                    <a:pt x="1562227" y="0"/>
                  </a:moveTo>
                  <a:lnTo>
                    <a:pt x="9188577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6984" y="2468879"/>
              <a:ext cx="8636635" cy="2336800"/>
            </a:xfrm>
            <a:custGeom>
              <a:avLst/>
              <a:gdLst/>
              <a:ahLst/>
              <a:cxnLst/>
              <a:rect l="l" t="t" r="r" b="b"/>
              <a:pathLst>
                <a:path w="8636635" h="2336800">
                  <a:moveTo>
                    <a:pt x="367284" y="0"/>
                  </a:moveTo>
                  <a:lnTo>
                    <a:pt x="0" y="0"/>
                  </a:lnTo>
                  <a:lnTo>
                    <a:pt x="0" y="2336546"/>
                  </a:lnTo>
                  <a:lnTo>
                    <a:pt x="367284" y="2336546"/>
                  </a:lnTo>
                  <a:lnTo>
                    <a:pt x="367284" y="0"/>
                  </a:lnTo>
                  <a:close/>
                </a:path>
                <a:path w="8636635" h="2336800">
                  <a:moveTo>
                    <a:pt x="1286256" y="16764"/>
                  </a:moveTo>
                  <a:lnTo>
                    <a:pt x="918972" y="16764"/>
                  </a:lnTo>
                  <a:lnTo>
                    <a:pt x="918972" y="2336546"/>
                  </a:lnTo>
                  <a:lnTo>
                    <a:pt x="1286256" y="2336546"/>
                  </a:lnTo>
                  <a:lnTo>
                    <a:pt x="1286256" y="16764"/>
                  </a:lnTo>
                  <a:close/>
                </a:path>
                <a:path w="8636635" h="2336800">
                  <a:moveTo>
                    <a:pt x="2205228" y="225552"/>
                  </a:moveTo>
                  <a:lnTo>
                    <a:pt x="1837944" y="225552"/>
                  </a:lnTo>
                  <a:lnTo>
                    <a:pt x="1837944" y="2336546"/>
                  </a:lnTo>
                  <a:lnTo>
                    <a:pt x="2205228" y="2336546"/>
                  </a:lnTo>
                  <a:lnTo>
                    <a:pt x="2205228" y="225552"/>
                  </a:lnTo>
                  <a:close/>
                </a:path>
                <a:path w="8636635" h="2336800">
                  <a:moveTo>
                    <a:pt x="3124200" y="388620"/>
                  </a:moveTo>
                  <a:lnTo>
                    <a:pt x="2756916" y="388620"/>
                  </a:lnTo>
                  <a:lnTo>
                    <a:pt x="2756916" y="2336546"/>
                  </a:lnTo>
                  <a:lnTo>
                    <a:pt x="3124200" y="2336546"/>
                  </a:lnTo>
                  <a:lnTo>
                    <a:pt x="3124200" y="388620"/>
                  </a:lnTo>
                  <a:close/>
                </a:path>
                <a:path w="8636635" h="2336800">
                  <a:moveTo>
                    <a:pt x="4043172" y="416052"/>
                  </a:moveTo>
                  <a:lnTo>
                    <a:pt x="3675888" y="416052"/>
                  </a:lnTo>
                  <a:lnTo>
                    <a:pt x="3675888" y="2336546"/>
                  </a:lnTo>
                  <a:lnTo>
                    <a:pt x="4043172" y="2336546"/>
                  </a:lnTo>
                  <a:lnTo>
                    <a:pt x="4043172" y="416052"/>
                  </a:lnTo>
                  <a:close/>
                </a:path>
                <a:path w="8636635" h="2336800">
                  <a:moveTo>
                    <a:pt x="4962144" y="429768"/>
                  </a:moveTo>
                  <a:lnTo>
                    <a:pt x="4593336" y="429768"/>
                  </a:lnTo>
                  <a:lnTo>
                    <a:pt x="4593336" y="2336546"/>
                  </a:lnTo>
                  <a:lnTo>
                    <a:pt x="4962144" y="2336546"/>
                  </a:lnTo>
                  <a:lnTo>
                    <a:pt x="4962144" y="429768"/>
                  </a:lnTo>
                  <a:close/>
                </a:path>
                <a:path w="8636635" h="2336800">
                  <a:moveTo>
                    <a:pt x="5881116" y="516636"/>
                  </a:moveTo>
                  <a:lnTo>
                    <a:pt x="5512308" y="516636"/>
                  </a:lnTo>
                  <a:lnTo>
                    <a:pt x="5512308" y="2336546"/>
                  </a:lnTo>
                  <a:lnTo>
                    <a:pt x="5881116" y="2336546"/>
                  </a:lnTo>
                  <a:lnTo>
                    <a:pt x="5881116" y="516636"/>
                  </a:lnTo>
                  <a:close/>
                </a:path>
                <a:path w="8636635" h="2336800">
                  <a:moveTo>
                    <a:pt x="6798564" y="544068"/>
                  </a:moveTo>
                  <a:lnTo>
                    <a:pt x="6431280" y="544068"/>
                  </a:lnTo>
                  <a:lnTo>
                    <a:pt x="6431280" y="2336546"/>
                  </a:lnTo>
                  <a:lnTo>
                    <a:pt x="6798564" y="2336546"/>
                  </a:lnTo>
                  <a:lnTo>
                    <a:pt x="6798564" y="544068"/>
                  </a:lnTo>
                  <a:close/>
                </a:path>
                <a:path w="8636635" h="2336800">
                  <a:moveTo>
                    <a:pt x="7717536" y="569976"/>
                  </a:moveTo>
                  <a:lnTo>
                    <a:pt x="7350252" y="569976"/>
                  </a:lnTo>
                  <a:lnTo>
                    <a:pt x="7350252" y="2336546"/>
                  </a:lnTo>
                  <a:lnTo>
                    <a:pt x="7717536" y="2336546"/>
                  </a:lnTo>
                  <a:lnTo>
                    <a:pt x="7717536" y="569976"/>
                  </a:lnTo>
                  <a:close/>
                </a:path>
                <a:path w="8636635" h="2336800">
                  <a:moveTo>
                    <a:pt x="8636508" y="667512"/>
                  </a:moveTo>
                  <a:lnTo>
                    <a:pt x="8269224" y="667512"/>
                  </a:lnTo>
                  <a:lnTo>
                    <a:pt x="8269224" y="2336546"/>
                  </a:lnTo>
                  <a:lnTo>
                    <a:pt x="8636508" y="2336546"/>
                  </a:lnTo>
                  <a:lnTo>
                    <a:pt x="8636508" y="667512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7472" y="4714113"/>
            <a:ext cx="1955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Georgia"/>
                <a:cs typeface="Georgia"/>
              </a:rPr>
              <a:t>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2822" y="4161790"/>
            <a:ext cx="370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R5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5" dirty="0">
                <a:solidFill>
                  <a:srgbClr val="FFFFFF"/>
                </a:solidFill>
                <a:latin typeface="Georgia"/>
                <a:cs typeface="Georgia"/>
              </a:rPr>
              <a:t>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4300" y="3609594"/>
            <a:ext cx="428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R10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80" dirty="0">
                <a:solidFill>
                  <a:srgbClr val="FFFFFF"/>
                </a:solidFill>
                <a:latin typeface="Georgia"/>
                <a:cs typeface="Georgia"/>
              </a:rPr>
              <a:t>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4300" y="3056585"/>
            <a:ext cx="4286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R15</a:t>
            </a:r>
            <a:r>
              <a:rPr sz="9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5" dirty="0">
                <a:solidFill>
                  <a:srgbClr val="FFFFFF"/>
                </a:solidFill>
                <a:latin typeface="Georgia"/>
                <a:cs typeface="Georgia"/>
              </a:rPr>
              <a:t>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84300" y="2504694"/>
            <a:ext cx="428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R20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5" dirty="0">
                <a:solidFill>
                  <a:srgbClr val="FFFFFF"/>
                </a:solidFill>
                <a:latin typeface="Georgia"/>
                <a:cs typeface="Georgia"/>
              </a:rPr>
              <a:t>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4300" y="1952371"/>
            <a:ext cx="4286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R25</a:t>
            </a:r>
            <a:r>
              <a:rPr sz="9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80" dirty="0">
                <a:solidFill>
                  <a:srgbClr val="FFFFFF"/>
                </a:solidFill>
                <a:latin typeface="Georgia"/>
                <a:cs typeface="Georgia"/>
              </a:rPr>
              <a:t>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65528" y="4854955"/>
            <a:ext cx="1776730" cy="4267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102235">
              <a:lnSpc>
                <a:spcPts val="1040"/>
              </a:lnSpc>
              <a:spcBef>
                <a:spcPts val="165"/>
              </a:spcBef>
              <a:tabLst>
                <a:tab pos="863600" algn="l"/>
              </a:tabLst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Sustainably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	Dark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Grown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Organic</a:t>
            </a:r>
            <a:endParaRPr sz="900">
              <a:latin typeface="Georgia"/>
              <a:cs typeface="Georgia"/>
            </a:endParaRPr>
          </a:p>
          <a:p>
            <a:pPr marL="329565">
              <a:lnSpc>
                <a:spcPts val="1010"/>
              </a:lnSpc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76065" y="4854955"/>
            <a:ext cx="4457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Latte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Rg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33747" y="4854955"/>
            <a:ext cx="1722755" cy="29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  <a:tabLst>
                <a:tab pos="894715" algn="l"/>
              </a:tabLst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Cappuccino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Morning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Sunrise</a:t>
            </a:r>
            <a:endParaRPr sz="900">
              <a:latin typeface="Georgia"/>
              <a:cs typeface="Georgia"/>
            </a:endParaRPr>
          </a:p>
          <a:p>
            <a:pPr marL="1105535">
              <a:lnSpc>
                <a:spcPts val="106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Chai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16802" y="4854955"/>
            <a:ext cx="2774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Latte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57770" y="4854955"/>
            <a:ext cx="833755" cy="29464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04470" marR="5080" indent="-192405">
              <a:lnSpc>
                <a:spcPts val="1040"/>
              </a:lnSpc>
              <a:spcBef>
                <a:spcPts val="165"/>
              </a:spcBef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Jamaican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Coffee River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98332" y="4854955"/>
            <a:ext cx="789940" cy="4267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635" algn="ctr">
              <a:lnSpc>
                <a:spcPts val="1040"/>
              </a:lnSpc>
              <a:spcBef>
                <a:spcPts val="165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Sustainably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Grown</a:t>
            </a:r>
            <a:r>
              <a:rPr sz="9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Organic</a:t>
            </a:r>
            <a:r>
              <a:rPr sz="900" spc="5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Rg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08744" y="4854955"/>
            <a:ext cx="6070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Cappuccino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19207" y="4854955"/>
            <a:ext cx="625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Brazilian</a:t>
            </a:r>
            <a:r>
              <a:rPr sz="9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Lg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45429" y="1654301"/>
            <a:ext cx="15830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Top</a:t>
            </a:r>
            <a:r>
              <a:rPr sz="14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Selling</a:t>
            </a:r>
            <a:r>
              <a:rPr sz="1400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Products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887582" y="3599745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0960734" y="3537966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6140" y="624827"/>
            <a:ext cx="5340985" cy="504190"/>
            <a:chOff x="3406140" y="624827"/>
            <a:chExt cx="5340985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6140" y="624827"/>
              <a:ext cx="5340858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2048" y="650735"/>
              <a:ext cx="5289042" cy="444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6780" y="672084"/>
              <a:ext cx="5275834" cy="43129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5042928"/>
            <a:ext cx="6746240" cy="1343660"/>
            <a:chOff x="867155" y="5042928"/>
            <a:chExt cx="6746240" cy="13436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5064239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5044452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5042928"/>
              <a:ext cx="1366266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3427" y="5042928"/>
              <a:ext cx="381762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10483" y="5042928"/>
              <a:ext cx="4251198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99" y="5317235"/>
              <a:ext cx="3079242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8699" y="5591555"/>
              <a:ext cx="6584442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699" y="5865875"/>
              <a:ext cx="1210818" cy="52043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92530" y="5104003"/>
            <a:ext cx="641096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256540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8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1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75" dirty="0">
                <a:solidFill>
                  <a:srgbClr val="F1F1F1"/>
                </a:solidFill>
                <a:latin typeface="Georgia"/>
                <a:cs typeface="Georgia"/>
              </a:rPr>
              <a:t>lowest-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performing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products</a:t>
            </a:r>
            <a:r>
              <a:rPr sz="1800" spc="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contribute</a:t>
            </a:r>
            <a:r>
              <a:rPr sz="1800" spc="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minimal </a:t>
            </a:r>
            <a:r>
              <a:rPr sz="1800" spc="-75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relative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top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items.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suggests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low</a:t>
            </a:r>
            <a:r>
              <a:rPr sz="1800" spc="-7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demand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potential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inefficiencies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in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product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offerings.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000615" y="6090615"/>
            <a:ext cx="342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1F1F1"/>
                </a:solidFill>
                <a:latin typeface="Georgia"/>
                <a:cs typeface="Georgia"/>
              </a:rPr>
              <a:t>20XX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036045" y="60906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0" dirty="0">
                <a:solidFill>
                  <a:srgbClr val="F1F1F1"/>
                </a:solidFill>
                <a:latin typeface="Georgia"/>
                <a:cs typeface="Georgia"/>
              </a:rPr>
              <a:t>11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91436" y="1697735"/>
            <a:ext cx="9006840" cy="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84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91436" y="1280286"/>
            <a:ext cx="9006840" cy="0"/>
          </a:xfrm>
          <a:custGeom>
            <a:avLst/>
            <a:gdLst/>
            <a:ahLst/>
            <a:cxnLst/>
            <a:rect l="l" t="t" r="r" b="b"/>
            <a:pathLst>
              <a:path w="9006840">
                <a:moveTo>
                  <a:pt x="0" y="0"/>
                </a:moveTo>
                <a:lnTo>
                  <a:pt x="900684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591436" y="1780032"/>
            <a:ext cx="9006840" cy="2847340"/>
            <a:chOff x="1591436" y="1780032"/>
            <a:chExt cx="9006840" cy="2847340"/>
          </a:xfrm>
        </p:grpSpPr>
        <p:sp>
          <p:nvSpPr>
            <p:cNvPr id="23" name="object 23"/>
            <p:cNvSpPr/>
            <p:nvPr/>
          </p:nvSpPr>
          <p:spPr>
            <a:xfrm>
              <a:off x="1591436" y="2115312"/>
              <a:ext cx="9006840" cy="2089785"/>
            </a:xfrm>
            <a:custGeom>
              <a:avLst/>
              <a:gdLst/>
              <a:ahLst/>
              <a:cxnLst/>
              <a:rect l="l" t="t" r="r" b="b"/>
              <a:pathLst>
                <a:path w="9006840" h="2089785">
                  <a:moveTo>
                    <a:pt x="0" y="2089404"/>
                  </a:moveTo>
                  <a:lnTo>
                    <a:pt x="581787" y="2089404"/>
                  </a:lnTo>
                </a:path>
                <a:path w="9006840" h="2089785">
                  <a:moveTo>
                    <a:pt x="6624446" y="2089404"/>
                  </a:moveTo>
                  <a:lnTo>
                    <a:pt x="7787259" y="2089404"/>
                  </a:lnTo>
                </a:path>
                <a:path w="9006840" h="2089785">
                  <a:moveTo>
                    <a:pt x="8425815" y="2089404"/>
                  </a:moveTo>
                  <a:lnTo>
                    <a:pt x="9006840" y="2089404"/>
                  </a:lnTo>
                </a:path>
                <a:path w="9006840" h="2089785">
                  <a:moveTo>
                    <a:pt x="4823079" y="2089404"/>
                  </a:moveTo>
                  <a:lnTo>
                    <a:pt x="5985891" y="2089404"/>
                  </a:lnTo>
                </a:path>
                <a:path w="9006840" h="2089785">
                  <a:moveTo>
                    <a:pt x="1220343" y="2089404"/>
                  </a:moveTo>
                  <a:lnTo>
                    <a:pt x="2383154" y="2089404"/>
                  </a:lnTo>
                </a:path>
                <a:path w="9006840" h="2089785">
                  <a:moveTo>
                    <a:pt x="3021711" y="2089404"/>
                  </a:moveTo>
                  <a:lnTo>
                    <a:pt x="4184523" y="2089404"/>
                  </a:lnTo>
                </a:path>
                <a:path w="9006840" h="2089785">
                  <a:moveTo>
                    <a:pt x="3021711" y="1671827"/>
                  </a:moveTo>
                  <a:lnTo>
                    <a:pt x="4184523" y="1671827"/>
                  </a:lnTo>
                </a:path>
                <a:path w="9006840" h="2089785">
                  <a:moveTo>
                    <a:pt x="8425815" y="1671827"/>
                  </a:moveTo>
                  <a:lnTo>
                    <a:pt x="9006840" y="1671827"/>
                  </a:lnTo>
                </a:path>
                <a:path w="9006840" h="2089785">
                  <a:moveTo>
                    <a:pt x="4823079" y="1671827"/>
                  </a:moveTo>
                  <a:lnTo>
                    <a:pt x="5985891" y="1671827"/>
                  </a:lnTo>
                </a:path>
                <a:path w="9006840" h="2089785">
                  <a:moveTo>
                    <a:pt x="6624446" y="1671827"/>
                  </a:moveTo>
                  <a:lnTo>
                    <a:pt x="7787259" y="1671827"/>
                  </a:lnTo>
                </a:path>
                <a:path w="9006840" h="2089785">
                  <a:moveTo>
                    <a:pt x="0" y="1671827"/>
                  </a:moveTo>
                  <a:lnTo>
                    <a:pt x="581787" y="1671827"/>
                  </a:lnTo>
                </a:path>
                <a:path w="9006840" h="2089785">
                  <a:moveTo>
                    <a:pt x="1220343" y="1671827"/>
                  </a:moveTo>
                  <a:lnTo>
                    <a:pt x="2383154" y="1671827"/>
                  </a:lnTo>
                </a:path>
                <a:path w="9006840" h="2089785">
                  <a:moveTo>
                    <a:pt x="0" y="1254252"/>
                  </a:moveTo>
                  <a:lnTo>
                    <a:pt x="581787" y="1254252"/>
                  </a:lnTo>
                </a:path>
                <a:path w="9006840" h="2089785">
                  <a:moveTo>
                    <a:pt x="3021711" y="1254252"/>
                  </a:moveTo>
                  <a:lnTo>
                    <a:pt x="4184523" y="1254252"/>
                  </a:lnTo>
                </a:path>
                <a:path w="9006840" h="2089785">
                  <a:moveTo>
                    <a:pt x="4823079" y="1254252"/>
                  </a:moveTo>
                  <a:lnTo>
                    <a:pt x="5985891" y="1254252"/>
                  </a:lnTo>
                </a:path>
                <a:path w="9006840" h="2089785">
                  <a:moveTo>
                    <a:pt x="6624446" y="1254252"/>
                  </a:moveTo>
                  <a:lnTo>
                    <a:pt x="7787259" y="1254252"/>
                  </a:lnTo>
                </a:path>
                <a:path w="9006840" h="2089785">
                  <a:moveTo>
                    <a:pt x="8425815" y="1254252"/>
                  </a:moveTo>
                  <a:lnTo>
                    <a:pt x="9006840" y="1254252"/>
                  </a:lnTo>
                </a:path>
                <a:path w="9006840" h="2089785">
                  <a:moveTo>
                    <a:pt x="1220343" y="1254252"/>
                  </a:moveTo>
                  <a:lnTo>
                    <a:pt x="2383154" y="1254252"/>
                  </a:lnTo>
                </a:path>
                <a:path w="9006840" h="2089785">
                  <a:moveTo>
                    <a:pt x="8425815" y="836676"/>
                  </a:moveTo>
                  <a:lnTo>
                    <a:pt x="9006840" y="836676"/>
                  </a:lnTo>
                </a:path>
                <a:path w="9006840" h="2089785">
                  <a:moveTo>
                    <a:pt x="3021711" y="836676"/>
                  </a:moveTo>
                  <a:lnTo>
                    <a:pt x="4184523" y="836676"/>
                  </a:lnTo>
                </a:path>
                <a:path w="9006840" h="2089785">
                  <a:moveTo>
                    <a:pt x="4823079" y="836676"/>
                  </a:moveTo>
                  <a:lnTo>
                    <a:pt x="5985891" y="836676"/>
                  </a:lnTo>
                </a:path>
                <a:path w="9006840" h="2089785">
                  <a:moveTo>
                    <a:pt x="6624446" y="836676"/>
                  </a:moveTo>
                  <a:lnTo>
                    <a:pt x="7787259" y="836676"/>
                  </a:lnTo>
                </a:path>
                <a:path w="9006840" h="2089785">
                  <a:moveTo>
                    <a:pt x="0" y="836676"/>
                  </a:moveTo>
                  <a:lnTo>
                    <a:pt x="2383154" y="836676"/>
                  </a:lnTo>
                </a:path>
                <a:path w="9006840" h="2089785">
                  <a:moveTo>
                    <a:pt x="6624446" y="417575"/>
                  </a:moveTo>
                  <a:lnTo>
                    <a:pt x="7787259" y="417575"/>
                  </a:lnTo>
                </a:path>
                <a:path w="9006840" h="2089785">
                  <a:moveTo>
                    <a:pt x="4823079" y="417575"/>
                  </a:moveTo>
                  <a:lnTo>
                    <a:pt x="5985891" y="417575"/>
                  </a:lnTo>
                </a:path>
                <a:path w="9006840" h="2089785">
                  <a:moveTo>
                    <a:pt x="3021711" y="417575"/>
                  </a:moveTo>
                  <a:lnTo>
                    <a:pt x="4184523" y="417575"/>
                  </a:lnTo>
                </a:path>
                <a:path w="9006840" h="2089785">
                  <a:moveTo>
                    <a:pt x="0" y="417575"/>
                  </a:moveTo>
                  <a:lnTo>
                    <a:pt x="2383154" y="417575"/>
                  </a:lnTo>
                </a:path>
                <a:path w="9006840" h="2089785">
                  <a:moveTo>
                    <a:pt x="8425815" y="417575"/>
                  </a:moveTo>
                  <a:lnTo>
                    <a:pt x="9006840" y="417575"/>
                  </a:lnTo>
                </a:path>
                <a:path w="9006840" h="2089785">
                  <a:moveTo>
                    <a:pt x="0" y="0"/>
                  </a:moveTo>
                  <a:lnTo>
                    <a:pt x="2383154" y="0"/>
                  </a:lnTo>
                </a:path>
                <a:path w="9006840" h="2089785">
                  <a:moveTo>
                    <a:pt x="3021711" y="0"/>
                  </a:moveTo>
                  <a:lnTo>
                    <a:pt x="4184523" y="0"/>
                  </a:lnTo>
                </a:path>
                <a:path w="9006840" h="2089785">
                  <a:moveTo>
                    <a:pt x="4823079" y="0"/>
                  </a:moveTo>
                  <a:lnTo>
                    <a:pt x="5985891" y="0"/>
                  </a:lnTo>
                </a:path>
                <a:path w="9006840" h="2089785">
                  <a:moveTo>
                    <a:pt x="6624446" y="0"/>
                  </a:moveTo>
                  <a:lnTo>
                    <a:pt x="7787259" y="0"/>
                  </a:lnTo>
                </a:path>
                <a:path w="9006840" h="2089785">
                  <a:moveTo>
                    <a:pt x="8425815" y="0"/>
                  </a:moveTo>
                  <a:lnTo>
                    <a:pt x="900684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73224" y="1780031"/>
              <a:ext cx="7844155" cy="2842260"/>
            </a:xfrm>
            <a:custGeom>
              <a:avLst/>
              <a:gdLst/>
              <a:ahLst/>
              <a:cxnLst/>
              <a:rect l="l" t="t" r="r" b="b"/>
              <a:pathLst>
                <a:path w="7844155" h="2842260">
                  <a:moveTo>
                    <a:pt x="638556" y="1264920"/>
                  </a:moveTo>
                  <a:lnTo>
                    <a:pt x="0" y="1264920"/>
                  </a:lnTo>
                  <a:lnTo>
                    <a:pt x="0" y="2842260"/>
                  </a:lnTo>
                  <a:lnTo>
                    <a:pt x="638556" y="2842260"/>
                  </a:lnTo>
                  <a:lnTo>
                    <a:pt x="638556" y="1264920"/>
                  </a:lnTo>
                  <a:close/>
                </a:path>
                <a:path w="7844155" h="2842260">
                  <a:moveTo>
                    <a:pt x="2439924" y="187452"/>
                  </a:moveTo>
                  <a:lnTo>
                    <a:pt x="1801368" y="187452"/>
                  </a:lnTo>
                  <a:lnTo>
                    <a:pt x="1801368" y="2842260"/>
                  </a:lnTo>
                  <a:lnTo>
                    <a:pt x="2439924" y="2842260"/>
                  </a:lnTo>
                  <a:lnTo>
                    <a:pt x="2439924" y="187452"/>
                  </a:lnTo>
                  <a:close/>
                </a:path>
                <a:path w="7844155" h="2842260">
                  <a:moveTo>
                    <a:pt x="4241292" y="51816"/>
                  </a:moveTo>
                  <a:lnTo>
                    <a:pt x="3602736" y="51816"/>
                  </a:lnTo>
                  <a:lnTo>
                    <a:pt x="3602736" y="2842260"/>
                  </a:lnTo>
                  <a:lnTo>
                    <a:pt x="4241292" y="2842260"/>
                  </a:lnTo>
                  <a:lnTo>
                    <a:pt x="4241292" y="51816"/>
                  </a:lnTo>
                  <a:close/>
                </a:path>
                <a:path w="7844155" h="2842260">
                  <a:moveTo>
                    <a:pt x="6042660" y="42672"/>
                  </a:moveTo>
                  <a:lnTo>
                    <a:pt x="5404104" y="42672"/>
                  </a:lnTo>
                  <a:lnTo>
                    <a:pt x="5404104" y="2842260"/>
                  </a:lnTo>
                  <a:lnTo>
                    <a:pt x="6042660" y="2842260"/>
                  </a:lnTo>
                  <a:lnTo>
                    <a:pt x="6042660" y="42672"/>
                  </a:lnTo>
                  <a:close/>
                </a:path>
                <a:path w="7844155" h="2842260">
                  <a:moveTo>
                    <a:pt x="7844028" y="0"/>
                  </a:moveTo>
                  <a:lnTo>
                    <a:pt x="7205472" y="0"/>
                  </a:lnTo>
                  <a:lnTo>
                    <a:pt x="7205472" y="2842260"/>
                  </a:lnTo>
                  <a:lnTo>
                    <a:pt x="7844028" y="2842260"/>
                  </a:lnTo>
                  <a:lnTo>
                    <a:pt x="7844028" y="0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91436" y="4622292"/>
              <a:ext cx="9006840" cy="0"/>
            </a:xfrm>
            <a:custGeom>
              <a:avLst/>
              <a:gdLst/>
              <a:ahLst/>
              <a:cxnLst/>
              <a:rect l="l" t="t" r="r" b="b"/>
              <a:pathLst>
                <a:path w="9006840">
                  <a:moveTo>
                    <a:pt x="0" y="0"/>
                  </a:moveTo>
                  <a:lnTo>
                    <a:pt x="900684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42822" y="3277615"/>
            <a:ext cx="461009" cy="141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600,00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400,00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200,00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2822" y="2859785"/>
            <a:ext cx="4603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800,00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4300" y="1188211"/>
            <a:ext cx="518159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600,00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400,00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200,00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R1</a:t>
            </a:r>
            <a:r>
              <a:rPr sz="900" spc="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09597" y="4671821"/>
            <a:ext cx="7645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Dark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42409" y="4671821"/>
            <a:ext cx="502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Earl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Grey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16626" y="4671821"/>
            <a:ext cx="1157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Spicy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Eye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Opener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Chai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01078" y="4671821"/>
            <a:ext cx="1591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Guatemalan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Sustainably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Grown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57741" y="4671821"/>
            <a:ext cx="6819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Lemon</a:t>
            </a:r>
            <a:r>
              <a:rPr sz="9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Grass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796143" y="299420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869294" y="2932303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7648" y="579107"/>
            <a:ext cx="6894195" cy="504190"/>
            <a:chOff x="2517648" y="579107"/>
            <a:chExt cx="6894195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7648" y="579107"/>
              <a:ext cx="6893814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3556" y="605015"/>
              <a:ext cx="6840474" cy="444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7399" y="625982"/>
              <a:ext cx="6828282" cy="43129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5180076"/>
            <a:ext cx="6834505" cy="1343660"/>
            <a:chOff x="867155" y="5180076"/>
            <a:chExt cx="6834505" cy="13436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5199888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5181600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5180076"/>
              <a:ext cx="5709665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5454396"/>
              <a:ext cx="4155186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699" y="5728716"/>
              <a:ext cx="6669785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99" y="6003036"/>
              <a:ext cx="4498086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73040" y="6132576"/>
              <a:ext cx="227825" cy="30709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92530" y="5239892"/>
            <a:ext cx="64954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29845" indent="-175260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184785" algn="l"/>
                <a:tab pos="213995" algn="l"/>
              </a:tabLst>
            </a:pPr>
            <a:r>
              <a:rPr dirty="0"/>
              <a:t>	</a:t>
            </a: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Coffee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Tea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categories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record</a:t>
            </a:r>
            <a:r>
              <a:rPr sz="1800" spc="-1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highest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85" dirty="0">
                <a:solidFill>
                  <a:srgbClr val="F1F1F1"/>
                </a:solidFill>
                <a:latin typeface="Georgia"/>
                <a:cs typeface="Georgia"/>
              </a:rPr>
              <a:t>number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of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units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sold</a:t>
            </a:r>
            <a:r>
              <a:rPr sz="1800" spc="-8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compared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other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categories.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6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indicates that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these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products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drive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both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volume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revenue,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</a:pP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reinforcing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their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importance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to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the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business</a:t>
            </a:r>
            <a:r>
              <a:rPr sz="1000" spc="-10" dirty="0">
                <a:solidFill>
                  <a:srgbClr val="F1F1F1"/>
                </a:solidFill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000615" y="6090615"/>
            <a:ext cx="342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1F1F1"/>
                </a:solidFill>
                <a:latin typeface="Georgia"/>
                <a:cs typeface="Georgia"/>
              </a:rPr>
              <a:t>20XX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1036045" y="6090615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1F1F1"/>
                </a:solidFill>
                <a:latin typeface="Georgia"/>
                <a:cs typeface="Georgia"/>
              </a:rPr>
              <a:t>12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76816" y="1247139"/>
            <a:ext cx="0" cy="3365500"/>
          </a:xfrm>
          <a:custGeom>
            <a:avLst/>
            <a:gdLst/>
            <a:ahLst/>
            <a:cxnLst/>
            <a:rect l="l" t="t" r="r" b="b"/>
            <a:pathLst>
              <a:path h="3365500">
                <a:moveTo>
                  <a:pt x="0" y="0"/>
                </a:moveTo>
                <a:lnTo>
                  <a:pt x="0" y="336499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409428" y="1247139"/>
            <a:ext cx="0" cy="3365500"/>
          </a:xfrm>
          <a:custGeom>
            <a:avLst/>
            <a:gdLst/>
            <a:ahLst/>
            <a:cxnLst/>
            <a:rect l="l" t="t" r="r" b="b"/>
            <a:pathLst>
              <a:path h="3365500">
                <a:moveTo>
                  <a:pt x="0" y="0"/>
                </a:moveTo>
                <a:lnTo>
                  <a:pt x="0" y="336499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2079053" y="1247139"/>
            <a:ext cx="7429500" cy="3365500"/>
            <a:chOff x="2079053" y="1247139"/>
            <a:chExt cx="7429500" cy="3365500"/>
          </a:xfrm>
        </p:grpSpPr>
        <p:sp>
          <p:nvSpPr>
            <p:cNvPr id="22" name="object 22"/>
            <p:cNvSpPr/>
            <p:nvPr/>
          </p:nvSpPr>
          <p:spPr>
            <a:xfrm>
              <a:off x="2916936" y="1247139"/>
              <a:ext cx="5828030" cy="3365500"/>
            </a:xfrm>
            <a:custGeom>
              <a:avLst/>
              <a:gdLst/>
              <a:ahLst/>
              <a:cxnLst/>
              <a:rect l="l" t="t" r="r" b="b"/>
              <a:pathLst>
                <a:path w="5828030" h="3365500">
                  <a:moveTo>
                    <a:pt x="0" y="1749044"/>
                  </a:moveTo>
                  <a:lnTo>
                    <a:pt x="0" y="1989836"/>
                  </a:lnTo>
                </a:path>
                <a:path w="5828030" h="3365500">
                  <a:moveTo>
                    <a:pt x="0" y="0"/>
                  </a:moveTo>
                  <a:lnTo>
                    <a:pt x="0" y="1616456"/>
                  </a:lnTo>
                </a:path>
                <a:path w="5828030" h="3365500">
                  <a:moveTo>
                    <a:pt x="0" y="2122424"/>
                  </a:moveTo>
                  <a:lnTo>
                    <a:pt x="0" y="2364740"/>
                  </a:lnTo>
                </a:path>
                <a:path w="5828030" h="3365500">
                  <a:moveTo>
                    <a:pt x="0" y="2870708"/>
                  </a:moveTo>
                  <a:lnTo>
                    <a:pt x="0" y="3111500"/>
                  </a:lnTo>
                </a:path>
                <a:path w="5828030" h="3365500">
                  <a:moveTo>
                    <a:pt x="0" y="2495804"/>
                  </a:moveTo>
                  <a:lnTo>
                    <a:pt x="0" y="2738120"/>
                  </a:lnTo>
                </a:path>
                <a:path w="5828030" h="3365500">
                  <a:moveTo>
                    <a:pt x="0" y="3244088"/>
                  </a:moveTo>
                  <a:lnTo>
                    <a:pt x="0" y="3364992"/>
                  </a:lnTo>
                </a:path>
                <a:path w="5828030" h="3365500">
                  <a:moveTo>
                    <a:pt x="832103" y="2495804"/>
                  </a:moveTo>
                  <a:lnTo>
                    <a:pt x="832103" y="2738120"/>
                  </a:lnTo>
                </a:path>
                <a:path w="5828030" h="3365500">
                  <a:moveTo>
                    <a:pt x="832103" y="2870708"/>
                  </a:moveTo>
                  <a:lnTo>
                    <a:pt x="832103" y="3111500"/>
                  </a:lnTo>
                </a:path>
                <a:path w="5828030" h="3365500">
                  <a:moveTo>
                    <a:pt x="832103" y="3244088"/>
                  </a:moveTo>
                  <a:lnTo>
                    <a:pt x="832103" y="3364992"/>
                  </a:lnTo>
                </a:path>
                <a:path w="5828030" h="3365500">
                  <a:moveTo>
                    <a:pt x="832103" y="0"/>
                  </a:moveTo>
                  <a:lnTo>
                    <a:pt x="832103" y="2364740"/>
                  </a:lnTo>
                </a:path>
                <a:path w="5828030" h="3365500">
                  <a:moveTo>
                    <a:pt x="1664208" y="0"/>
                  </a:moveTo>
                  <a:lnTo>
                    <a:pt x="1664208" y="2738120"/>
                  </a:lnTo>
                </a:path>
                <a:path w="5828030" h="3365500">
                  <a:moveTo>
                    <a:pt x="1664208" y="2870708"/>
                  </a:moveTo>
                  <a:lnTo>
                    <a:pt x="1664208" y="3111500"/>
                  </a:lnTo>
                </a:path>
                <a:path w="5828030" h="3365500">
                  <a:moveTo>
                    <a:pt x="1664208" y="3244088"/>
                  </a:moveTo>
                  <a:lnTo>
                    <a:pt x="1664208" y="3364992"/>
                  </a:lnTo>
                </a:path>
                <a:path w="5828030" h="3365500">
                  <a:moveTo>
                    <a:pt x="2496312" y="0"/>
                  </a:moveTo>
                  <a:lnTo>
                    <a:pt x="2496312" y="2738120"/>
                  </a:lnTo>
                </a:path>
                <a:path w="5828030" h="3365500">
                  <a:moveTo>
                    <a:pt x="2496312" y="2870708"/>
                  </a:moveTo>
                  <a:lnTo>
                    <a:pt x="2496312" y="3111500"/>
                  </a:lnTo>
                </a:path>
                <a:path w="5828030" h="3365500">
                  <a:moveTo>
                    <a:pt x="2496312" y="3244088"/>
                  </a:moveTo>
                  <a:lnTo>
                    <a:pt x="2496312" y="3364992"/>
                  </a:lnTo>
                </a:path>
                <a:path w="5828030" h="3365500">
                  <a:moveTo>
                    <a:pt x="3329940" y="3244088"/>
                  </a:moveTo>
                  <a:lnTo>
                    <a:pt x="3329940" y="3364992"/>
                  </a:lnTo>
                </a:path>
                <a:path w="5828030" h="3365500">
                  <a:moveTo>
                    <a:pt x="3329940" y="2870708"/>
                  </a:moveTo>
                  <a:lnTo>
                    <a:pt x="3329940" y="3111500"/>
                  </a:lnTo>
                </a:path>
                <a:path w="5828030" h="3365500">
                  <a:moveTo>
                    <a:pt x="3329940" y="0"/>
                  </a:moveTo>
                  <a:lnTo>
                    <a:pt x="3329940" y="2738120"/>
                  </a:lnTo>
                </a:path>
                <a:path w="5828030" h="3365500">
                  <a:moveTo>
                    <a:pt x="4162043" y="3244088"/>
                  </a:moveTo>
                  <a:lnTo>
                    <a:pt x="4162043" y="3364992"/>
                  </a:lnTo>
                </a:path>
                <a:path w="5828030" h="3365500">
                  <a:moveTo>
                    <a:pt x="4162043" y="2870708"/>
                  </a:moveTo>
                  <a:lnTo>
                    <a:pt x="4162043" y="3111500"/>
                  </a:lnTo>
                </a:path>
                <a:path w="5828030" h="3365500">
                  <a:moveTo>
                    <a:pt x="4162043" y="0"/>
                  </a:moveTo>
                  <a:lnTo>
                    <a:pt x="4162043" y="2738120"/>
                  </a:lnTo>
                </a:path>
                <a:path w="5828030" h="3365500">
                  <a:moveTo>
                    <a:pt x="4994147" y="3244088"/>
                  </a:moveTo>
                  <a:lnTo>
                    <a:pt x="4994147" y="3364992"/>
                  </a:lnTo>
                </a:path>
                <a:path w="5828030" h="3365500">
                  <a:moveTo>
                    <a:pt x="4994147" y="0"/>
                  </a:moveTo>
                  <a:lnTo>
                    <a:pt x="4994147" y="3111500"/>
                  </a:lnTo>
                </a:path>
                <a:path w="5828030" h="3365500">
                  <a:moveTo>
                    <a:pt x="5827775" y="3244088"/>
                  </a:moveTo>
                  <a:lnTo>
                    <a:pt x="5827775" y="3364992"/>
                  </a:lnTo>
                </a:path>
                <a:path w="5828030" h="3365500">
                  <a:moveTo>
                    <a:pt x="5827775" y="0"/>
                  </a:moveTo>
                  <a:lnTo>
                    <a:pt x="5827775" y="311150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83816" y="1368551"/>
              <a:ext cx="7424420" cy="3122930"/>
            </a:xfrm>
            <a:custGeom>
              <a:avLst/>
              <a:gdLst/>
              <a:ahLst/>
              <a:cxnLst/>
              <a:rect l="l" t="t" r="r" b="b"/>
              <a:pathLst>
                <a:path w="7424420" h="3122929">
                  <a:moveTo>
                    <a:pt x="40640" y="0"/>
                  </a:moveTo>
                  <a:lnTo>
                    <a:pt x="0" y="0"/>
                  </a:lnTo>
                  <a:lnTo>
                    <a:pt x="0" y="131064"/>
                  </a:lnTo>
                  <a:lnTo>
                    <a:pt x="40640" y="131064"/>
                  </a:lnTo>
                  <a:lnTo>
                    <a:pt x="40640" y="0"/>
                  </a:lnTo>
                  <a:close/>
                </a:path>
                <a:path w="7424420" h="3122929">
                  <a:moveTo>
                    <a:pt x="65024" y="373380"/>
                  </a:moveTo>
                  <a:lnTo>
                    <a:pt x="0" y="373380"/>
                  </a:lnTo>
                  <a:lnTo>
                    <a:pt x="0" y="505968"/>
                  </a:lnTo>
                  <a:lnTo>
                    <a:pt x="65024" y="505968"/>
                  </a:lnTo>
                  <a:lnTo>
                    <a:pt x="65024" y="373380"/>
                  </a:lnTo>
                  <a:close/>
                </a:path>
                <a:path w="7424420" h="3122929">
                  <a:moveTo>
                    <a:pt x="101600" y="746760"/>
                  </a:moveTo>
                  <a:lnTo>
                    <a:pt x="0" y="746760"/>
                  </a:lnTo>
                  <a:lnTo>
                    <a:pt x="0" y="879348"/>
                  </a:lnTo>
                  <a:lnTo>
                    <a:pt x="101600" y="879348"/>
                  </a:lnTo>
                  <a:lnTo>
                    <a:pt x="101600" y="746760"/>
                  </a:lnTo>
                  <a:close/>
                </a:path>
                <a:path w="7424420" h="3122929">
                  <a:moveTo>
                    <a:pt x="151892" y="1121664"/>
                  </a:moveTo>
                  <a:lnTo>
                    <a:pt x="0" y="1121664"/>
                  </a:lnTo>
                  <a:lnTo>
                    <a:pt x="0" y="1252728"/>
                  </a:lnTo>
                  <a:lnTo>
                    <a:pt x="151892" y="1252728"/>
                  </a:lnTo>
                  <a:lnTo>
                    <a:pt x="151892" y="1121664"/>
                  </a:lnTo>
                  <a:close/>
                </a:path>
                <a:path w="7424420" h="3122929">
                  <a:moveTo>
                    <a:pt x="874268" y="1495044"/>
                  </a:moveTo>
                  <a:lnTo>
                    <a:pt x="0" y="1495044"/>
                  </a:lnTo>
                  <a:lnTo>
                    <a:pt x="0" y="1627632"/>
                  </a:lnTo>
                  <a:lnTo>
                    <a:pt x="874268" y="1627632"/>
                  </a:lnTo>
                  <a:lnTo>
                    <a:pt x="874268" y="1495044"/>
                  </a:lnTo>
                  <a:close/>
                </a:path>
                <a:path w="7424420" h="3122929">
                  <a:moveTo>
                    <a:pt x="1451864" y="1868424"/>
                  </a:moveTo>
                  <a:lnTo>
                    <a:pt x="0" y="1868424"/>
                  </a:lnTo>
                  <a:lnTo>
                    <a:pt x="0" y="2001012"/>
                  </a:lnTo>
                  <a:lnTo>
                    <a:pt x="1451864" y="2001012"/>
                  </a:lnTo>
                  <a:lnTo>
                    <a:pt x="1451864" y="1868424"/>
                  </a:lnTo>
                  <a:close/>
                </a:path>
                <a:path w="7424420" h="3122929">
                  <a:moveTo>
                    <a:pt x="1942592" y="2243328"/>
                  </a:moveTo>
                  <a:lnTo>
                    <a:pt x="0" y="2243328"/>
                  </a:lnTo>
                  <a:lnTo>
                    <a:pt x="0" y="2374392"/>
                  </a:lnTo>
                  <a:lnTo>
                    <a:pt x="1942592" y="2374392"/>
                  </a:lnTo>
                  <a:lnTo>
                    <a:pt x="1942592" y="2243328"/>
                  </a:lnTo>
                  <a:close/>
                </a:path>
                <a:path w="7424420" h="3122929">
                  <a:moveTo>
                    <a:pt x="5802884" y="2616708"/>
                  </a:moveTo>
                  <a:lnTo>
                    <a:pt x="0" y="2616708"/>
                  </a:lnTo>
                  <a:lnTo>
                    <a:pt x="0" y="2749296"/>
                  </a:lnTo>
                  <a:lnTo>
                    <a:pt x="5802884" y="2749296"/>
                  </a:lnTo>
                  <a:lnTo>
                    <a:pt x="5802884" y="2616708"/>
                  </a:lnTo>
                  <a:close/>
                </a:path>
                <a:path w="7424420" h="3122929">
                  <a:moveTo>
                    <a:pt x="7424420" y="2990088"/>
                  </a:moveTo>
                  <a:lnTo>
                    <a:pt x="0" y="2990088"/>
                  </a:lnTo>
                  <a:lnTo>
                    <a:pt x="0" y="3122676"/>
                  </a:lnTo>
                  <a:lnTo>
                    <a:pt x="7424420" y="3122676"/>
                  </a:lnTo>
                  <a:lnTo>
                    <a:pt x="7424420" y="2990088"/>
                  </a:lnTo>
                  <a:close/>
                </a:path>
              </a:pathLst>
            </a:custGeom>
            <a:solidFill>
              <a:srgbClr val="BB45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83816" y="1247139"/>
              <a:ext cx="0" cy="3365500"/>
            </a:xfrm>
            <a:custGeom>
              <a:avLst/>
              <a:gdLst/>
              <a:ahLst/>
              <a:cxnLst/>
              <a:rect l="l" t="t" r="r" b="b"/>
              <a:pathLst>
                <a:path h="3365500">
                  <a:moveTo>
                    <a:pt x="0" y="336499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42286" y="4661661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Georgia"/>
                <a:cs typeface="Georgia"/>
              </a:rPr>
              <a:t>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43580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5" dirty="0">
                <a:solidFill>
                  <a:srgbClr val="FFFFFF"/>
                </a:solidFill>
                <a:latin typeface="Georgia"/>
                <a:cs typeface="Georgia"/>
              </a:rPr>
              <a:t>10 000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6320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20 000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09059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30 000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41797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40 000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74409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50 000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07148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60 000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39633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FFFFFF"/>
                </a:solidFill>
                <a:latin typeface="Georgia"/>
                <a:cs typeface="Georgia"/>
              </a:rPr>
              <a:t>70 000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72245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80 000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404984" y="4661661"/>
            <a:ext cx="346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solidFill>
                  <a:srgbClr val="FFFFFF"/>
                </a:solidFill>
                <a:latin typeface="Georgia"/>
                <a:cs typeface="Georgia"/>
              </a:rPr>
              <a:t>90 000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08514" y="4661661"/>
            <a:ext cx="403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FFFFFF"/>
                </a:solidFill>
                <a:latin typeface="Georgia"/>
                <a:cs typeface="Georgia"/>
              </a:rPr>
              <a:t>100 000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08684" y="3212084"/>
            <a:ext cx="98806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Drinking</a:t>
            </a:r>
            <a:r>
              <a:rPr sz="9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900">
              <a:latin typeface="Georgia"/>
              <a:cs typeface="Georgia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Bakery</a:t>
            </a:r>
            <a:endParaRPr sz="900">
              <a:latin typeface="Georgia"/>
              <a:cs typeface="Georgia"/>
            </a:endParaRPr>
          </a:p>
          <a:p>
            <a:pPr marL="655955" marR="5080" indent="134620">
              <a:lnSpc>
                <a:spcPct val="272700"/>
              </a:lnSpc>
            </a:pP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Tea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 Coffee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44827" y="2838069"/>
            <a:ext cx="450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Flavours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4300" y="1342135"/>
            <a:ext cx="1010919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Packaged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Chocolate</a:t>
            </a:r>
            <a:endParaRPr sz="900">
              <a:latin typeface="Georgia"/>
              <a:cs typeface="Georgia"/>
            </a:endParaRPr>
          </a:p>
          <a:p>
            <a:pPr marL="377825" marR="5080" indent="210820" algn="r">
              <a:lnSpc>
                <a:spcPct val="272600"/>
              </a:lnSpc>
            </a:pP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Branded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Loose</a:t>
            </a: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Tea</a:t>
            </a: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 Coffee</a:t>
            </a:r>
            <a:r>
              <a:rPr sz="9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Georgia"/>
                <a:cs typeface="Georgia"/>
              </a:rPr>
              <a:t>beans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796778" y="2972619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869930" y="2910585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44111" y="624827"/>
            <a:ext cx="4276090" cy="504190"/>
            <a:chOff x="3944111" y="624827"/>
            <a:chExt cx="4276090" cy="504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4111" y="624827"/>
              <a:ext cx="4275582" cy="5036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70019" y="650735"/>
              <a:ext cx="4223766" cy="4442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4751" y="672465"/>
              <a:ext cx="4210304" cy="43091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67155" y="5001780"/>
            <a:ext cx="6755130" cy="1343660"/>
            <a:chOff x="867155" y="5001780"/>
            <a:chExt cx="6755130" cy="13436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5" y="5021567"/>
              <a:ext cx="497573" cy="4854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79" y="5003304"/>
              <a:ext cx="1181862" cy="52043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7" y="5001780"/>
              <a:ext cx="5159502" cy="5204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699" y="5276088"/>
              <a:ext cx="3292602" cy="5204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6595" y="5276088"/>
              <a:ext cx="1255014" cy="52043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6903" y="5276088"/>
              <a:ext cx="378701" cy="5204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8699" y="5550408"/>
              <a:ext cx="6593585" cy="52043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699" y="5824728"/>
              <a:ext cx="2266950" cy="52043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92530" y="5061280"/>
            <a:ext cx="6417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5104">
              <a:lnSpc>
                <a:spcPct val="100000"/>
              </a:lnSpc>
              <a:spcBef>
                <a:spcPts val="100"/>
              </a:spcBef>
              <a:buClr>
                <a:srgbClr val="F1F1F1"/>
              </a:buClr>
              <a:buSzPct val="94444"/>
              <a:buFont typeface="Wingdings"/>
              <a:buChar char=""/>
              <a:tabLst>
                <a:tab pos="215265" algn="l"/>
              </a:tabLst>
            </a:pPr>
            <a:r>
              <a:rPr sz="1800" b="1" spc="60" dirty="0">
                <a:solidFill>
                  <a:srgbClr val="F1F1F1"/>
                </a:solidFill>
                <a:latin typeface="Calibri"/>
                <a:cs typeface="Calibri"/>
              </a:rPr>
              <a:t>Insights:</a:t>
            </a:r>
            <a:r>
              <a:rPr sz="1800" b="1" spc="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Revenue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differs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between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weekdays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1F1F1"/>
                </a:solidFill>
                <a:latin typeface="Georgia"/>
                <a:cs typeface="Georgia"/>
              </a:rPr>
              <a:t>and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weekends,</a:t>
            </a:r>
            <a:endParaRPr sz="1800">
              <a:latin typeface="Georgia"/>
              <a:cs typeface="Georgia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reflecting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changes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in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customer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behaviour.</a:t>
            </a:r>
            <a:endParaRPr sz="1800">
              <a:latin typeface="Georgia"/>
              <a:cs typeface="Georgia"/>
            </a:endParaRPr>
          </a:p>
          <a:p>
            <a:pPr marL="184785" marR="5080">
              <a:lnSpc>
                <a:spcPct val="100000"/>
              </a:lnSpc>
            </a:pP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This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 highlights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the</a:t>
            </a:r>
            <a:r>
              <a:rPr sz="1800" spc="-40" dirty="0">
                <a:solidFill>
                  <a:srgbClr val="F1F1F1"/>
                </a:solidFill>
                <a:latin typeface="Georgia"/>
                <a:cs typeface="Georgia"/>
              </a:rPr>
              <a:t> impact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1F1F1"/>
                </a:solidFill>
                <a:latin typeface="Georgia"/>
                <a:cs typeface="Georgia"/>
              </a:rPr>
              <a:t>of</a:t>
            </a:r>
            <a:r>
              <a:rPr sz="1800" spc="1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work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schedules</a:t>
            </a:r>
            <a:r>
              <a:rPr sz="1800" spc="-45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35" dirty="0">
                <a:solidFill>
                  <a:srgbClr val="F1F1F1"/>
                </a:solidFill>
                <a:latin typeface="Georgia"/>
                <a:cs typeface="Georgia"/>
              </a:rPr>
              <a:t>and </a:t>
            </a:r>
            <a:r>
              <a:rPr sz="1800" spc="-55" dirty="0">
                <a:solidFill>
                  <a:srgbClr val="F1F1F1"/>
                </a:solidFill>
                <a:latin typeface="Georgia"/>
                <a:cs typeface="Georgia"/>
              </a:rPr>
              <a:t>leisure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time</a:t>
            </a:r>
            <a:r>
              <a:rPr sz="1800" spc="-3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1F1F1"/>
                </a:solidFill>
                <a:latin typeface="Georgia"/>
                <a:cs typeface="Georgia"/>
              </a:rPr>
              <a:t>on </a:t>
            </a:r>
            <a:r>
              <a:rPr sz="1800" spc="-50" dirty="0">
                <a:solidFill>
                  <a:srgbClr val="F1F1F1"/>
                </a:solidFill>
                <a:latin typeface="Georgia"/>
                <a:cs typeface="Georgia"/>
              </a:rPr>
              <a:t>purchasing</a:t>
            </a:r>
            <a:r>
              <a:rPr sz="1800" spc="-60" dirty="0">
                <a:solidFill>
                  <a:srgbClr val="F1F1F1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F1F1F1"/>
                </a:solidFill>
                <a:latin typeface="Georgia"/>
                <a:cs typeface="Georgia"/>
              </a:rPr>
              <a:t>patterns.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708023" y="1678432"/>
            <a:ext cx="8891270" cy="0"/>
          </a:xfrm>
          <a:custGeom>
            <a:avLst/>
            <a:gdLst/>
            <a:ahLst/>
            <a:cxnLst/>
            <a:rect l="l" t="t" r="r" b="b"/>
            <a:pathLst>
              <a:path w="8891270">
                <a:moveTo>
                  <a:pt x="0" y="0"/>
                </a:moveTo>
                <a:lnTo>
                  <a:pt x="8890762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708023" y="2162365"/>
          <a:ext cx="8967470" cy="244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6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B4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75969" y="4520310"/>
            <a:ext cx="3441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55" dirty="0">
                <a:solidFill>
                  <a:srgbClr val="FFFFFF"/>
                </a:solidFill>
                <a:latin typeface="Georgia"/>
                <a:cs typeface="Georgia"/>
              </a:rPr>
              <a:t>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4300" y="4030802"/>
            <a:ext cx="6356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Georgia"/>
                <a:cs typeface="Georgia"/>
              </a:rPr>
              <a:t>R100</a:t>
            </a:r>
            <a:r>
              <a:rPr sz="9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4300" y="3542157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R200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4300" y="3053334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R300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4300" y="2564384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R400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4300" y="2075434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FFFFFF"/>
                </a:solidFill>
                <a:latin typeface="Georgia"/>
                <a:cs typeface="Georgia"/>
              </a:rPr>
              <a:t>R500</a:t>
            </a:r>
            <a:r>
              <a:rPr sz="9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4300" y="1586610"/>
            <a:ext cx="6356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Georgia"/>
                <a:cs typeface="Georgia"/>
              </a:rPr>
              <a:t>R600</a:t>
            </a:r>
            <a:r>
              <a:rPr sz="9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900" spc="-70" dirty="0">
                <a:solidFill>
                  <a:srgbClr val="FFFFFF"/>
                </a:solidFill>
                <a:latin typeface="Georgia"/>
                <a:cs typeface="Georgia"/>
              </a:rPr>
              <a:t>000,00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89350" y="4661154"/>
            <a:ext cx="4845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Weekday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134857" y="4661154"/>
            <a:ext cx="485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Weekend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58561" y="1287856"/>
            <a:ext cx="166623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Weekday</a:t>
            </a:r>
            <a:r>
              <a:rPr sz="1400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vs</a:t>
            </a:r>
            <a:r>
              <a:rPr sz="14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Weekend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796778" y="318788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90" h="59689">
                <a:moveTo>
                  <a:pt x="59378" y="0"/>
                </a:moveTo>
                <a:lnTo>
                  <a:pt x="0" y="0"/>
                </a:lnTo>
                <a:lnTo>
                  <a:pt x="0" y="59378"/>
                </a:lnTo>
                <a:lnTo>
                  <a:pt x="59378" y="59378"/>
                </a:lnTo>
                <a:lnTo>
                  <a:pt x="59378" y="0"/>
                </a:lnTo>
                <a:close/>
              </a:path>
            </a:pathLst>
          </a:custGeom>
          <a:solidFill>
            <a:srgbClr val="BB45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869930" y="3126104"/>
            <a:ext cx="2838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Georgia"/>
                <a:cs typeface="Georgia"/>
              </a:rPr>
              <a:t>Total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87496" y="1004316"/>
            <a:ext cx="4992370" cy="552450"/>
            <a:chOff x="3587496" y="1004316"/>
            <a:chExt cx="4992370" cy="552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7496" y="1004316"/>
              <a:ext cx="4991861" cy="5524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3404" y="1030211"/>
              <a:ext cx="4940046" cy="4945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9279" y="1054481"/>
              <a:ext cx="4925314" cy="477774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32935" y="2681681"/>
            <a:ext cx="394271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shows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consistent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growth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Font typeface="Wingdings"/>
              <a:buChar char="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Morning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peak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period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Wingdings"/>
              <a:buChar char=""/>
            </a:pPr>
            <a:endParaRPr sz="180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Sales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vary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day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buSzPct val="94444"/>
              <a:buChar char="•"/>
              <a:tabLst>
                <a:tab pos="9144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few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products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dominate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revenue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41647" y="1004316"/>
            <a:ext cx="4072890" cy="455295"/>
            <a:chOff x="4041647" y="1004316"/>
            <a:chExt cx="4072890" cy="455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1647" y="1004316"/>
              <a:ext cx="4072890" cy="454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7555" y="1030224"/>
              <a:ext cx="4021074" cy="3954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3430" y="1054481"/>
              <a:ext cx="4006215" cy="379857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7335" y="6060947"/>
            <a:ext cx="497573" cy="2948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62131" y="6060947"/>
            <a:ext cx="308609" cy="2948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77488" y="2511297"/>
            <a:ext cx="505015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Increase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stock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high-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performing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Wingdings"/>
              <a:buChar char=""/>
            </a:pP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Promote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underperforming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Wingdings"/>
              <a:buChar char=""/>
            </a:pP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Target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slow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periods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Wingdings"/>
              <a:buChar char=""/>
            </a:pP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Optimise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staffing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peak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hours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0" dirty="0"/>
              <a:t>20XX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725</Words>
  <Application>Microsoft Office PowerPoint</Application>
  <PresentationFormat>Widescreen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Lower Manhattan 33%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 THAKHANI TSHIBALANGANDA (202034326)</dc:creator>
  <cp:lastModifiedBy>MR THAKHANI TSHIBALANGANDA (202034326)</cp:lastModifiedBy>
  <cp:revision>1</cp:revision>
  <dcterms:created xsi:type="dcterms:W3CDTF">2026-03-31T11:57:16Z</dcterms:created>
  <dcterms:modified xsi:type="dcterms:W3CDTF">2026-03-31T11:58:44Z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2026-03-31T00:00:00Z</vt:filetime>
  </property>
  <property fmtid="{D5CDD505-2E9C-101B-9397-08002B2CF9AE}" pid="5" name="Producer">
    <vt:lpwstr>iLovePDF</vt:lpwstr>
  </property>
</Properties>
</file>