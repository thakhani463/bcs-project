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Hubot Sans"/>
      <p:regular r:id="rId16"/>
    </p:embeddedFont>
    <p:embeddedFont>
      <p:font typeface="Hubot Sans"/>
      <p:regular r:id="rId17"/>
    </p:embeddedFont>
    <p:embeddedFont>
      <p:font typeface="Roboto Condensed"/>
      <p:regular r:id="rId18"/>
    </p:embeddedFont>
    <p:embeddedFont>
      <p:font typeface="Roboto Condensed"/>
      <p:regular r:id="rId19"/>
    </p:embeddedFont>
    <p:embeddedFont>
      <p:font typeface="Roboto Condensed"/>
      <p:regular r:id="rId20"/>
    </p:embeddedFont>
    <p:embeddedFont>
      <p:font typeface="Roboto Condensed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5473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COFFEE SALES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63020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6-MONTH PERFORMANCE REVIEW · JANUARY – JUNE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2118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Presented by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Thakhani Tshibalangada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31627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OBJECTIVES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280190" y="1479828"/>
            <a:ext cx="75564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analysis examines six months of coffee sales data to uncover performance trends, revenue drivers, and customer behaviour across all store locations.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280190" y="2234684"/>
            <a:ext cx="7556421" cy="1156811"/>
          </a:xfrm>
          <a:prstGeom prst="roundRect">
            <a:avLst>
              <a:gd name="adj" fmla="val 2500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03050" y="2257544"/>
            <a:ext cx="771168" cy="1111091"/>
          </a:xfrm>
          <a:prstGeom prst="roundRect">
            <a:avLst>
              <a:gd name="adj" fmla="val 19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544032" y="2632353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7238048" y="2450306"/>
            <a:ext cx="285595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SALES PERFORMANCE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238048" y="2849761"/>
            <a:ext cx="6382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Analyse overall revenue trends and growth across the January–June period.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80190" y="3555325"/>
            <a:ext cx="7556421" cy="1156811"/>
          </a:xfrm>
          <a:prstGeom prst="roundRect">
            <a:avLst>
              <a:gd name="adj" fmla="val 2500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3050" y="3578185"/>
            <a:ext cx="771168" cy="1111091"/>
          </a:xfrm>
          <a:prstGeom prst="roundRect">
            <a:avLst>
              <a:gd name="adj" fmla="val 19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544032" y="3952994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7238048" y="3770948"/>
            <a:ext cx="247566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REVENUE DRIVERS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7238048" y="4170402"/>
            <a:ext cx="6382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Identify the products, stores, and time periods that contribute most to total revenue.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80190" y="4875967"/>
            <a:ext cx="7556421" cy="1401247"/>
          </a:xfrm>
          <a:prstGeom prst="roundRect">
            <a:avLst>
              <a:gd name="adj" fmla="val 2064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3050" y="4898827"/>
            <a:ext cx="771168" cy="1355527"/>
          </a:xfrm>
          <a:prstGeom prst="roundRect">
            <a:avLst>
              <a:gd name="adj" fmla="val 19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544032" y="5395793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7238048" y="5091589"/>
            <a:ext cx="308145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CUSTOMER BEHAVIOUR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7238048" y="5491043"/>
            <a:ext cx="638294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Understand purchasing patterns by time of day, day of week, and product preference.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280190" y="6441043"/>
            <a:ext cx="7556421" cy="1156811"/>
          </a:xfrm>
          <a:prstGeom prst="roundRect">
            <a:avLst>
              <a:gd name="adj" fmla="val 2500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03050" y="6463903"/>
            <a:ext cx="771168" cy="1111091"/>
          </a:xfrm>
          <a:prstGeom prst="roundRect">
            <a:avLst>
              <a:gd name="adj" fmla="val 19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544032" y="6838712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7238048" y="6656665"/>
            <a:ext cx="272736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RECOMMENDATIONS</a:t>
            </a:r>
            <a:endParaRPr lang="en-US" sz="1850" dirty="0"/>
          </a:p>
        </p:txBody>
      </p:sp>
      <p:sp>
        <p:nvSpPr>
          <p:cNvPr id="24" name="Text 21"/>
          <p:cNvSpPr/>
          <p:nvPr/>
        </p:nvSpPr>
        <p:spPr>
          <a:xfrm>
            <a:off x="7238048" y="7056120"/>
            <a:ext cx="6382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Provide data-driven insights to guide strategic decisions and future growth.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33" y="407313"/>
            <a:ext cx="55846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MONTHLY REVENUE TREND BY STORE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33" y="874990"/>
            <a:ext cx="1363813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Revenue grew consistently across all three locations from January through June, reflecting strong and sustained sales momentum.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33" y="1074777"/>
            <a:ext cx="10910411" cy="36951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33" y="7248287"/>
            <a:ext cx="4508183" cy="573881"/>
          </a:xfrm>
          <a:prstGeom prst="roundRect">
            <a:avLst>
              <a:gd name="adj" fmla="val 2964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09481" y="7361634"/>
            <a:ext cx="14761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R26,000 → R55,000+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9481" y="7572732"/>
            <a:ext cx="428148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Revenue per store more than doubled from January to June.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60990" y="7248287"/>
            <a:ext cx="4508302" cy="573881"/>
          </a:xfrm>
          <a:prstGeom prst="roundRect">
            <a:avLst>
              <a:gd name="adj" fmla="val 2964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174337" y="736163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100%+ GROWTH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74337" y="7572732"/>
            <a:ext cx="4281607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 overall increase of more than 100% signals strong upward sales performance.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625965" y="7248287"/>
            <a:ext cx="4508302" cy="573881"/>
          </a:xfrm>
          <a:prstGeom prst="roundRect">
            <a:avLst>
              <a:gd name="adj" fmla="val 2964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739313" y="7361634"/>
            <a:ext cx="230540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CONSISTENT ACROSS STORES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739313" y="7572732"/>
            <a:ext cx="4281607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All three locations followed a similar upward trajectory throughout the period.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731"/>
            <a:ext cx="79751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TOTAL REVENUE BY STORE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551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All three stores performed at a remarkably similar level over the six-month period, with Hell's Kitchen leading by a narrow margin.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28342"/>
            <a:ext cx="6244709" cy="36934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04170" y="3543022"/>
            <a:ext cx="234315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237k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6509966" y="4635222"/>
            <a:ext cx="234315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232k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6459478" y="5727422"/>
            <a:ext cx="234315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230k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599521" y="2900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99521" y="348114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Hell's Kitchen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recorded the highest total revenue at approximately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R236,511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, followed closely by Astoria and Lower Manhattan.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441102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relatively small gap between stores indicates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balanced performance across all locations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, suggesting effective and consistent operations.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599521" y="5754886"/>
            <a:ext cx="6244709" cy="1326713"/>
          </a:xfrm>
          <a:prstGeom prst="roundRect">
            <a:avLst>
              <a:gd name="adj" fmla="val 2565"/>
            </a:avLst>
          </a:prstGeom>
          <a:solidFill>
            <a:srgbClr val="B6FCB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35" y="6098977"/>
            <a:ext cx="283488" cy="2268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36637" y="6038374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balanced distribution reduces concentration risk and supports a stable multi-store business model.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4781"/>
            <a:ext cx="110254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REVENUE CONTRIBUTION BY STORE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85073"/>
            <a:ext cx="6244709" cy="361735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18140" y="3934658"/>
            <a:ext cx="810101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480" y="3971211"/>
            <a:ext cx="91440" cy="91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08640" y="3957518"/>
            <a:ext cx="581501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Astoria·33%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5611892" y="3957518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·33%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648444" y="3957518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118140" y="4160163"/>
            <a:ext cx="1080492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480" y="4196715"/>
            <a:ext cx="91440" cy="914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08640" y="4183023"/>
            <a:ext cx="85189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Hell's Kitchen·34%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5882283" y="4183023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·34%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5918835" y="4183023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5118140" y="4385667"/>
            <a:ext cx="1265634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480" y="4422219"/>
            <a:ext cx="91440" cy="914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08640" y="4408527"/>
            <a:ext cx="103703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Lower Manhattan·33%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6067425" y="4408527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·33%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6103977" y="4408527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7599521" y="2380536"/>
            <a:ext cx="51893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BALANCED STORE DISTRIBUTION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599521" y="296168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Each store contributes roughly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33–34%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of total revenue, with no single location dominating the portfolio.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7599521" y="389155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near-equal split reflects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stable multi-store performance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and effective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risk diversification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across the business.</a:t>
            </a:r>
            <a:endParaRPr lang="en-US" sz="1750" dirty="0"/>
          </a:p>
        </p:txBody>
      </p:sp>
      <p:sp>
        <p:nvSpPr>
          <p:cNvPr id="22" name="Shape 16"/>
          <p:cNvSpPr/>
          <p:nvPr/>
        </p:nvSpPr>
        <p:spPr>
          <a:xfrm>
            <a:off x="763310" y="6385679"/>
            <a:ext cx="60960" cy="76962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23" name="Text 17"/>
          <p:cNvSpPr/>
          <p:nvPr/>
        </p:nvSpPr>
        <p:spPr>
          <a:xfrm>
            <a:off x="1081564" y="64161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ASTORIA — 33%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5205413" y="6385679"/>
            <a:ext cx="60960" cy="76962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25" name="Text 19"/>
          <p:cNvSpPr/>
          <p:nvPr/>
        </p:nvSpPr>
        <p:spPr>
          <a:xfrm>
            <a:off x="5523667" y="6416159"/>
            <a:ext cx="33778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HELL'S KITCHEN — 34%</a:t>
            </a:r>
            <a:endParaRPr lang="en-US" sz="2200" dirty="0"/>
          </a:p>
        </p:txBody>
      </p:sp>
      <p:sp>
        <p:nvSpPr>
          <p:cNvPr id="26" name="Shape 20"/>
          <p:cNvSpPr/>
          <p:nvPr/>
        </p:nvSpPr>
        <p:spPr>
          <a:xfrm>
            <a:off x="9647515" y="6385679"/>
            <a:ext cx="60960" cy="76962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27" name="Text 21"/>
          <p:cNvSpPr/>
          <p:nvPr/>
        </p:nvSpPr>
        <p:spPr>
          <a:xfrm>
            <a:off x="9965769" y="6416159"/>
            <a:ext cx="387084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LOWER MANHATTAN — 33%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63823"/>
            <a:ext cx="7035046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REVENUE BY TIME OF DAY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183963"/>
            <a:ext cx="3326606" cy="19973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314980" y="2160984"/>
            <a:ext cx="3529251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MORNING DOMINATES SALES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0314980" y="2982397"/>
            <a:ext cx="3529251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morning period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generates the highest revenue by a significant margin compared to afternoon and evening combined.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314980" y="4078486"/>
            <a:ext cx="3529251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reflects peak customer activity during early hours, most likely driven by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commuter and breakfast demand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0314980" y="5216009"/>
            <a:ext cx="3529251" cy="1743075"/>
          </a:xfrm>
          <a:prstGeom prst="roundRect">
            <a:avLst>
              <a:gd name="adj" fmla="val 1757"/>
            </a:avLst>
          </a:prstGeom>
          <a:solidFill>
            <a:srgbClr val="B6D6FC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053" y="5513427"/>
            <a:ext cx="255151" cy="2040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8277" y="5450681"/>
            <a:ext cx="2661880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Opportunity: Strengthening afternoon promotions could help capture underutilised revenue potential later in the day.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3182"/>
            <a:ext cx="554902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REVENUE BY DAY OF WEEK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411605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Purchasing patterns shift across the week, reflecting the influence of work routines and leisure schedules on customer behaviour.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752600"/>
            <a:ext cx="9129951" cy="5159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4382" y="2410795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98.5k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2639505" y="2465818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97.2k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905879" y="2304981"/>
            <a:ext cx="234315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101k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149751" y="2355772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99.8k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6416125" y="2283818"/>
            <a:ext cx="234315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102k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659997" y="2525074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95.8k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8915119" y="2580097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94.5k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793790" y="6990278"/>
            <a:ext cx="13042821" cy="546021"/>
          </a:xfrm>
          <a:prstGeom prst="roundRect">
            <a:avLst>
              <a:gd name="adj" fmla="val 4362"/>
            </a:avLst>
          </a:prstGeom>
          <a:solidFill>
            <a:srgbClr val="DBDBD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7209711"/>
            <a:ext cx="198358" cy="1587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09568" y="7141012"/>
            <a:ext cx="12368332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Weekday revenue trends higher than weekends, suggesting the core customer base is driven by work-week routines and commuter traffic.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8491"/>
            <a:ext cx="102810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REVENUE BY PRODUCT CATEGORY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62582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534245"/>
            <a:ext cx="50811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CORE BEVERAGES LEAD REVENUE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311538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Coffee and Tea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are the dominant revenue-generating categories, far outpacing all other product types.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404526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confirms that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core beverage products are the primary drivers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of overall sales performance, while ancillary categories (bakery, chocolate) play a supporting role.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599521" y="5389126"/>
            <a:ext cx="6244709" cy="1326713"/>
          </a:xfrm>
          <a:prstGeom prst="roundRect">
            <a:avLst>
              <a:gd name="adj" fmla="val 2565"/>
            </a:avLst>
          </a:prstGeom>
          <a:solidFill>
            <a:srgbClr val="B6FCB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35" y="5733217"/>
            <a:ext cx="283488" cy="226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36637" y="5672614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Doubling down on coffee and tea product variety and quality could yield the highest return on investment.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23887"/>
            <a:ext cx="608754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TOP-SELLING PRODUCTS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1408509"/>
            <a:ext cx="7556421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handful of products drive the majority of revenue — customer demand is clearly concentrated around a few high-performing items.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280190" y="2094190"/>
            <a:ext cx="7556421" cy="994648"/>
          </a:xfrm>
          <a:prstGeom prst="roundRect">
            <a:avLst>
              <a:gd name="adj" fmla="val 273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61641" y="2275642"/>
            <a:ext cx="431887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SUSTAINABLY GROWN ORGANIC LG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461641" y="2646164"/>
            <a:ext cx="71935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Highest revenue — premium beans resonate strongly with health-conscious customers.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80190" y="3233976"/>
            <a:ext cx="7556421" cy="994648"/>
          </a:xfrm>
          <a:prstGeom prst="roundRect">
            <a:avLst>
              <a:gd name="adj" fmla="val 273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61641" y="3415427"/>
            <a:ext cx="258579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DARK CHOCOLATE LG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461641" y="3785949"/>
            <a:ext cx="71935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Second-best performer — a popular indulgence pairing well with coffee.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80190" y="4373761"/>
            <a:ext cx="7556421" cy="994648"/>
          </a:xfrm>
          <a:prstGeom prst="roundRect">
            <a:avLst>
              <a:gd name="adj" fmla="val 273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61641" y="4555212"/>
            <a:ext cx="345352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LATTE RG &amp; CAPPUCCINO LG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461641" y="4925735"/>
            <a:ext cx="71935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Core espresso drinks dominate everyday orders across all stores.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80190" y="5513546"/>
            <a:ext cx="7556421" cy="994648"/>
          </a:xfrm>
          <a:prstGeom prst="roundRect">
            <a:avLst>
              <a:gd name="adj" fmla="val 273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461641" y="5694997"/>
            <a:ext cx="348257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MORNING SUNRISE CHAI LG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461641" y="6065520"/>
            <a:ext cx="71935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standout tea product, reflecting growing demand beyond traditional coffee.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80190" y="6671429"/>
            <a:ext cx="7556421" cy="934283"/>
          </a:xfrm>
          <a:prstGeom prst="roundRect">
            <a:avLst>
              <a:gd name="adj" fmla="val 2913"/>
            </a:avLst>
          </a:prstGeom>
          <a:solidFill>
            <a:srgbClr val="B6D6FC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41" y="6929914"/>
            <a:ext cx="226814" cy="18145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869906" y="6861929"/>
            <a:ext cx="6785253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Recommendation: Prioritise stock, staff training, and promotions around these top SKUs to protect and grow their revenue contribution.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2026-04-23T23:32:45Z</dcterms:created>
  <dcterms:modified xsi:type="dcterms:W3CDTF">2026-04-23T23:32:45Z</dcterms:modified>
</cp:coreProperties>
</file>